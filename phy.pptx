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2" r:id="rId7"/>
    <p:sldId id="264"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69CF48-F90F-477B-B8E4-A04584698B42}">
          <p14:sldIdLst>
            <p14:sldId id="256"/>
            <p14:sldId id="257"/>
            <p14:sldId id="258"/>
            <p14:sldId id="259"/>
            <p14:sldId id="260"/>
            <p14:sldId id="262"/>
            <p14:sldId id="264"/>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03" autoAdjust="0"/>
    <p:restoredTop sz="94660"/>
  </p:normalViewPr>
  <p:slideViewPr>
    <p:cSldViewPr snapToGrid="0">
      <p:cViewPr varScale="1">
        <p:scale>
          <a:sx n="67" d="100"/>
          <a:sy n="67"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image" Target="../media/image3.jpg"/></Relationships>
</file>

<file path=ppt/diagrams/_rels/drawing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image" Target="../media/image3.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7BC089-A219-46BD-A5D3-C7A19D95D6C5}" type="doc">
      <dgm:prSet loTypeId="urn:microsoft.com/office/officeart/2008/layout/HexagonCluster" loCatId="picture" qsTypeId="urn:microsoft.com/office/officeart/2005/8/quickstyle/simple1" qsCatId="simple" csTypeId="urn:microsoft.com/office/officeart/2005/8/colors/accent1_2" csCatId="accent1" phldr="1"/>
      <dgm:spPr/>
      <dgm:t>
        <a:bodyPr/>
        <a:lstStyle/>
        <a:p>
          <a:endParaRPr lang="en-US"/>
        </a:p>
      </dgm:t>
    </dgm:pt>
    <dgm:pt modelId="{E1DB0C30-06D5-4186-9AA8-EED38CC4AFF9}">
      <dgm:prSet phldrT="[Text]"/>
      <dgm:spPr/>
      <dgm:t>
        <a:bodyPr/>
        <a:lstStyle/>
        <a:p>
          <a:r>
            <a:rPr lang="en-US" dirty="0"/>
            <a:t>Superposition</a:t>
          </a:r>
        </a:p>
      </dgm:t>
    </dgm:pt>
    <dgm:pt modelId="{90B98520-8CF8-49BF-88DA-11366073FA11}" type="parTrans" cxnId="{48B2B9E2-A682-4656-B90D-26EC1AA4546A}">
      <dgm:prSet/>
      <dgm:spPr/>
      <dgm:t>
        <a:bodyPr/>
        <a:lstStyle/>
        <a:p>
          <a:endParaRPr lang="en-US"/>
        </a:p>
      </dgm:t>
    </dgm:pt>
    <dgm:pt modelId="{B7D0F913-E02E-4F31-A778-686F9AC3D344}" type="sibTrans" cxnId="{48B2B9E2-A682-4656-B90D-26EC1AA4546A}">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t="-24000" b="-24000"/>
          </a:stretch>
        </a:blipFill>
      </dgm:spPr>
      <dgm:t>
        <a:bodyPr/>
        <a:lstStyle/>
        <a:p>
          <a:endParaRPr lang="en-US"/>
        </a:p>
      </dgm:t>
    </dgm:pt>
    <dgm:pt modelId="{EF80F7C5-83A2-4035-B31B-FCC2AECE3400}">
      <dgm:prSet phldrT="[Text]"/>
      <dgm:spPr/>
      <dgm:t>
        <a:bodyPr/>
        <a:lstStyle/>
        <a:p>
          <a:r>
            <a:rPr lang="en-US" dirty="0"/>
            <a:t>Energy states</a:t>
          </a:r>
        </a:p>
      </dgm:t>
    </dgm:pt>
    <dgm:pt modelId="{FC8CE2C0-3A91-4973-9D2B-B23D03757558}" type="parTrans" cxnId="{1527E2D9-9F57-4DB5-A2A0-707FF86B854D}">
      <dgm:prSet/>
      <dgm:spPr/>
      <dgm:t>
        <a:bodyPr/>
        <a:lstStyle/>
        <a:p>
          <a:endParaRPr lang="en-US"/>
        </a:p>
      </dgm:t>
    </dgm:pt>
    <dgm:pt modelId="{53EFD5A4-7006-4161-8DB5-576380452C54}" type="sibTrans" cxnId="{1527E2D9-9F57-4DB5-A2A0-707FF86B854D}">
      <dgm:prSet/>
      <dgm:spPr>
        <a:blipFill>
          <a:blip xmlns:r="http://schemas.openxmlformats.org/officeDocument/2006/relationships" r:embed="rId2">
            <a:extLst>
              <a:ext uri="{28A0092B-C50C-407E-A947-70E740481C1C}">
                <a14:useLocalDpi xmlns:a14="http://schemas.microsoft.com/office/drawing/2010/main" val="0"/>
              </a:ext>
            </a:extLst>
          </a:blip>
          <a:srcRect/>
          <a:stretch>
            <a:fillRect l="-15000" r="-15000"/>
          </a:stretch>
        </a:blipFill>
      </dgm:spPr>
      <dgm:t>
        <a:bodyPr/>
        <a:lstStyle/>
        <a:p>
          <a:endParaRPr lang="en-US"/>
        </a:p>
      </dgm:t>
    </dgm:pt>
    <dgm:pt modelId="{825B86F1-3976-463B-9716-2B6922B6D70F}">
      <dgm:prSet phldrT="[Text]"/>
      <dgm:spPr/>
      <dgm:t>
        <a:bodyPr/>
        <a:lstStyle/>
        <a:p>
          <a:r>
            <a:rPr lang="en-US" dirty="0"/>
            <a:t>Quantization</a:t>
          </a:r>
        </a:p>
      </dgm:t>
    </dgm:pt>
    <dgm:pt modelId="{B4D70AC9-899D-4AF8-A83E-05B5908C8C71}" type="parTrans" cxnId="{710411EE-37DF-4A04-ABC2-64A2E7398F52}">
      <dgm:prSet/>
      <dgm:spPr/>
      <dgm:t>
        <a:bodyPr/>
        <a:lstStyle/>
        <a:p>
          <a:endParaRPr lang="en-US"/>
        </a:p>
      </dgm:t>
    </dgm:pt>
    <dgm:pt modelId="{0AEB982D-38D4-41C0-990E-28BA244AA0DB}" type="sibTrans" cxnId="{710411EE-37DF-4A04-ABC2-64A2E7398F52}">
      <dgm:prSet/>
      <dgm:spPr>
        <a:blipFill>
          <a:blip xmlns:r="http://schemas.openxmlformats.org/officeDocument/2006/relationships" r:embed="rId3"/>
          <a:srcRect/>
          <a:stretch>
            <a:fillRect t="-26000" b="-26000"/>
          </a:stretch>
        </a:blipFill>
      </dgm:spPr>
      <dgm:t>
        <a:bodyPr/>
        <a:lstStyle/>
        <a:p>
          <a:endParaRPr lang="en-US"/>
        </a:p>
      </dgm:t>
    </dgm:pt>
    <dgm:pt modelId="{95E80105-348F-406B-9EC7-AAAE312BF550}" type="pres">
      <dgm:prSet presAssocID="{927BC089-A219-46BD-A5D3-C7A19D95D6C5}" presName="Name0" presStyleCnt="0">
        <dgm:presLayoutVars>
          <dgm:chMax val="21"/>
          <dgm:chPref val="21"/>
        </dgm:presLayoutVars>
      </dgm:prSet>
      <dgm:spPr/>
    </dgm:pt>
    <dgm:pt modelId="{2C5CAC20-1790-4480-9AB5-1D0A8652BAA8}" type="pres">
      <dgm:prSet presAssocID="{E1DB0C30-06D5-4186-9AA8-EED38CC4AFF9}" presName="text1" presStyleCnt="0"/>
      <dgm:spPr/>
    </dgm:pt>
    <dgm:pt modelId="{5E279583-E3CF-41B2-AEB5-F18E210D95E9}" type="pres">
      <dgm:prSet presAssocID="{E1DB0C30-06D5-4186-9AA8-EED38CC4AFF9}" presName="textRepeatNode" presStyleLbl="alignNode1" presStyleIdx="0" presStyleCnt="3">
        <dgm:presLayoutVars>
          <dgm:chMax val="0"/>
          <dgm:chPref val="0"/>
          <dgm:bulletEnabled val="1"/>
        </dgm:presLayoutVars>
      </dgm:prSet>
      <dgm:spPr/>
    </dgm:pt>
    <dgm:pt modelId="{95FF2F02-17C8-4464-B79C-809B77692BCA}" type="pres">
      <dgm:prSet presAssocID="{E1DB0C30-06D5-4186-9AA8-EED38CC4AFF9}" presName="textaccent1" presStyleCnt="0"/>
      <dgm:spPr/>
    </dgm:pt>
    <dgm:pt modelId="{3DEDB310-8E0A-4926-81FA-0AA54C347F80}" type="pres">
      <dgm:prSet presAssocID="{E1DB0C30-06D5-4186-9AA8-EED38CC4AFF9}" presName="accentRepeatNode" presStyleLbl="solidAlignAcc1" presStyleIdx="0" presStyleCnt="6"/>
      <dgm:spPr/>
    </dgm:pt>
    <dgm:pt modelId="{6D4C2D0A-03B6-4E97-BCD8-32EF71F89737}" type="pres">
      <dgm:prSet presAssocID="{B7D0F913-E02E-4F31-A778-686F9AC3D344}" presName="image1" presStyleCnt="0"/>
      <dgm:spPr/>
    </dgm:pt>
    <dgm:pt modelId="{63D7244B-DBFF-4842-B0AB-465244E5A2AA}" type="pres">
      <dgm:prSet presAssocID="{B7D0F913-E02E-4F31-A778-686F9AC3D344}" presName="imageRepeatNode" presStyleLbl="alignAcc1" presStyleIdx="0" presStyleCnt="3" custLinFactNeighborX="-781" custLinFactNeighborY="-783"/>
      <dgm:spPr/>
    </dgm:pt>
    <dgm:pt modelId="{A3DD092F-27F2-4D22-8B55-7C40566F170A}" type="pres">
      <dgm:prSet presAssocID="{B7D0F913-E02E-4F31-A778-686F9AC3D344}" presName="imageaccent1" presStyleCnt="0"/>
      <dgm:spPr/>
    </dgm:pt>
    <dgm:pt modelId="{07985F61-5C53-48B3-8965-8B018ABD3976}" type="pres">
      <dgm:prSet presAssocID="{B7D0F913-E02E-4F31-A778-686F9AC3D344}" presName="accentRepeatNode" presStyleLbl="solidAlignAcc1" presStyleIdx="1" presStyleCnt="6"/>
      <dgm:spPr/>
    </dgm:pt>
    <dgm:pt modelId="{F1A9C3FE-F33E-4586-9AF2-61322A7A33A4}" type="pres">
      <dgm:prSet presAssocID="{EF80F7C5-83A2-4035-B31B-FCC2AECE3400}" presName="text2" presStyleCnt="0"/>
      <dgm:spPr/>
    </dgm:pt>
    <dgm:pt modelId="{18702B84-BFD2-43A4-BD28-35EDF920424E}" type="pres">
      <dgm:prSet presAssocID="{EF80F7C5-83A2-4035-B31B-FCC2AECE3400}" presName="textRepeatNode" presStyleLbl="alignNode1" presStyleIdx="1" presStyleCnt="3">
        <dgm:presLayoutVars>
          <dgm:chMax val="0"/>
          <dgm:chPref val="0"/>
          <dgm:bulletEnabled val="1"/>
        </dgm:presLayoutVars>
      </dgm:prSet>
      <dgm:spPr/>
    </dgm:pt>
    <dgm:pt modelId="{CCDD7AF4-7DB6-4510-9D7C-3FE1CD3243D9}" type="pres">
      <dgm:prSet presAssocID="{EF80F7C5-83A2-4035-B31B-FCC2AECE3400}" presName="textaccent2" presStyleCnt="0"/>
      <dgm:spPr/>
    </dgm:pt>
    <dgm:pt modelId="{560DCC22-CC73-4732-BA01-67F2DFD84D89}" type="pres">
      <dgm:prSet presAssocID="{EF80F7C5-83A2-4035-B31B-FCC2AECE3400}" presName="accentRepeatNode" presStyleLbl="solidAlignAcc1" presStyleIdx="2" presStyleCnt="6"/>
      <dgm:spPr/>
    </dgm:pt>
    <dgm:pt modelId="{FBD2D645-76C3-4E23-AE76-22EC8F1548FD}" type="pres">
      <dgm:prSet presAssocID="{53EFD5A4-7006-4161-8DB5-576380452C54}" presName="image2" presStyleCnt="0"/>
      <dgm:spPr/>
    </dgm:pt>
    <dgm:pt modelId="{7F9D4DCA-209F-4487-8EA2-242A08B7EE8B}" type="pres">
      <dgm:prSet presAssocID="{53EFD5A4-7006-4161-8DB5-576380452C54}" presName="imageRepeatNode" presStyleLbl="alignAcc1" presStyleIdx="1" presStyleCnt="3"/>
      <dgm:spPr/>
    </dgm:pt>
    <dgm:pt modelId="{CC7C90BA-531B-4E13-989C-7A7E87CDE84F}" type="pres">
      <dgm:prSet presAssocID="{53EFD5A4-7006-4161-8DB5-576380452C54}" presName="imageaccent2" presStyleCnt="0"/>
      <dgm:spPr/>
    </dgm:pt>
    <dgm:pt modelId="{3982B3B1-B543-4BCA-B53A-C10F606DF0D5}" type="pres">
      <dgm:prSet presAssocID="{53EFD5A4-7006-4161-8DB5-576380452C54}" presName="accentRepeatNode" presStyleLbl="solidAlignAcc1" presStyleIdx="3" presStyleCnt="6"/>
      <dgm:spPr/>
    </dgm:pt>
    <dgm:pt modelId="{B7AFE6DC-FF6F-4547-9FB6-F6D9BCB17553}" type="pres">
      <dgm:prSet presAssocID="{825B86F1-3976-463B-9716-2B6922B6D70F}" presName="text3" presStyleCnt="0"/>
      <dgm:spPr/>
    </dgm:pt>
    <dgm:pt modelId="{688AF844-CA4E-4B74-AF7B-176974E3D2AE}" type="pres">
      <dgm:prSet presAssocID="{825B86F1-3976-463B-9716-2B6922B6D70F}" presName="textRepeatNode" presStyleLbl="alignNode1" presStyleIdx="2" presStyleCnt="3">
        <dgm:presLayoutVars>
          <dgm:chMax val="0"/>
          <dgm:chPref val="0"/>
          <dgm:bulletEnabled val="1"/>
        </dgm:presLayoutVars>
      </dgm:prSet>
      <dgm:spPr/>
    </dgm:pt>
    <dgm:pt modelId="{B3F49974-DEA2-4795-ACFE-59634DD5D74F}" type="pres">
      <dgm:prSet presAssocID="{825B86F1-3976-463B-9716-2B6922B6D70F}" presName="textaccent3" presStyleCnt="0"/>
      <dgm:spPr/>
    </dgm:pt>
    <dgm:pt modelId="{C213DE38-4FDB-49D6-846A-F7ED777A77E0}" type="pres">
      <dgm:prSet presAssocID="{825B86F1-3976-463B-9716-2B6922B6D70F}" presName="accentRepeatNode" presStyleLbl="solidAlignAcc1" presStyleIdx="4" presStyleCnt="6"/>
      <dgm:spPr/>
    </dgm:pt>
    <dgm:pt modelId="{97491495-A8F6-4511-82FC-504B9F958C67}" type="pres">
      <dgm:prSet presAssocID="{0AEB982D-38D4-41C0-990E-28BA244AA0DB}" presName="image3" presStyleCnt="0"/>
      <dgm:spPr/>
    </dgm:pt>
    <dgm:pt modelId="{E02A3069-CF51-4C64-89D9-F2EE28C28135}" type="pres">
      <dgm:prSet presAssocID="{0AEB982D-38D4-41C0-990E-28BA244AA0DB}" presName="imageRepeatNode" presStyleLbl="alignAcc1" presStyleIdx="2" presStyleCnt="3" custLinFactNeighborX="1562" custLinFactNeighborY="3365"/>
      <dgm:spPr/>
    </dgm:pt>
    <dgm:pt modelId="{147A2F00-F053-4F6E-9128-3589A81C3462}" type="pres">
      <dgm:prSet presAssocID="{0AEB982D-38D4-41C0-990E-28BA244AA0DB}" presName="imageaccent3" presStyleCnt="0"/>
      <dgm:spPr/>
    </dgm:pt>
    <dgm:pt modelId="{C79D246D-E5ED-444A-8730-FE4408AEAEE4}" type="pres">
      <dgm:prSet presAssocID="{0AEB982D-38D4-41C0-990E-28BA244AA0DB}" presName="accentRepeatNode" presStyleLbl="solidAlignAcc1" presStyleIdx="5" presStyleCnt="6"/>
      <dgm:spPr/>
    </dgm:pt>
  </dgm:ptLst>
  <dgm:cxnLst>
    <dgm:cxn modelId="{692A6929-A8C1-4A1A-9E60-F7C2389041A1}" type="presOf" srcId="{927BC089-A219-46BD-A5D3-C7A19D95D6C5}" destId="{95E80105-348F-406B-9EC7-AAAE312BF550}" srcOrd="0" destOrd="0" presId="urn:microsoft.com/office/officeart/2008/layout/HexagonCluster"/>
    <dgm:cxn modelId="{8795922E-13FB-40AC-9EE0-CBB03296A671}" type="presOf" srcId="{B7D0F913-E02E-4F31-A778-686F9AC3D344}" destId="{63D7244B-DBFF-4842-B0AB-465244E5A2AA}" srcOrd="0" destOrd="0" presId="urn:microsoft.com/office/officeart/2008/layout/HexagonCluster"/>
    <dgm:cxn modelId="{85B2AB5C-4E8D-4348-9ED3-0C67B21AECF0}" type="presOf" srcId="{825B86F1-3976-463B-9716-2B6922B6D70F}" destId="{688AF844-CA4E-4B74-AF7B-176974E3D2AE}" srcOrd="0" destOrd="0" presId="urn:microsoft.com/office/officeart/2008/layout/HexagonCluster"/>
    <dgm:cxn modelId="{A84F036E-ABEB-4835-9903-C725C8080F14}" type="presOf" srcId="{E1DB0C30-06D5-4186-9AA8-EED38CC4AFF9}" destId="{5E279583-E3CF-41B2-AEB5-F18E210D95E9}" srcOrd="0" destOrd="0" presId="urn:microsoft.com/office/officeart/2008/layout/HexagonCluster"/>
    <dgm:cxn modelId="{8A9E43AA-74D6-4D70-9265-561E8C92977F}" type="presOf" srcId="{EF80F7C5-83A2-4035-B31B-FCC2AECE3400}" destId="{18702B84-BFD2-43A4-BD28-35EDF920424E}" srcOrd="0" destOrd="0" presId="urn:microsoft.com/office/officeart/2008/layout/HexagonCluster"/>
    <dgm:cxn modelId="{4B9F31CD-FB1A-4DC2-BB0A-58B1A4948C34}" type="presOf" srcId="{0AEB982D-38D4-41C0-990E-28BA244AA0DB}" destId="{E02A3069-CF51-4C64-89D9-F2EE28C28135}" srcOrd="0" destOrd="0" presId="urn:microsoft.com/office/officeart/2008/layout/HexagonCluster"/>
    <dgm:cxn modelId="{1527E2D9-9F57-4DB5-A2A0-707FF86B854D}" srcId="{927BC089-A219-46BD-A5D3-C7A19D95D6C5}" destId="{EF80F7C5-83A2-4035-B31B-FCC2AECE3400}" srcOrd="1" destOrd="0" parTransId="{FC8CE2C0-3A91-4973-9D2B-B23D03757558}" sibTransId="{53EFD5A4-7006-4161-8DB5-576380452C54}"/>
    <dgm:cxn modelId="{48B2B9E2-A682-4656-B90D-26EC1AA4546A}" srcId="{927BC089-A219-46BD-A5D3-C7A19D95D6C5}" destId="{E1DB0C30-06D5-4186-9AA8-EED38CC4AFF9}" srcOrd="0" destOrd="0" parTransId="{90B98520-8CF8-49BF-88DA-11366073FA11}" sibTransId="{B7D0F913-E02E-4F31-A778-686F9AC3D344}"/>
    <dgm:cxn modelId="{BAA9BFED-E27B-4C14-90F4-A8189F4CCAFF}" type="presOf" srcId="{53EFD5A4-7006-4161-8DB5-576380452C54}" destId="{7F9D4DCA-209F-4487-8EA2-242A08B7EE8B}" srcOrd="0" destOrd="0" presId="urn:microsoft.com/office/officeart/2008/layout/HexagonCluster"/>
    <dgm:cxn modelId="{710411EE-37DF-4A04-ABC2-64A2E7398F52}" srcId="{927BC089-A219-46BD-A5D3-C7A19D95D6C5}" destId="{825B86F1-3976-463B-9716-2B6922B6D70F}" srcOrd="2" destOrd="0" parTransId="{B4D70AC9-899D-4AF8-A83E-05B5908C8C71}" sibTransId="{0AEB982D-38D4-41C0-990E-28BA244AA0DB}"/>
    <dgm:cxn modelId="{68235220-204F-4AAA-A9B1-5B03DC28AC60}" type="presParOf" srcId="{95E80105-348F-406B-9EC7-AAAE312BF550}" destId="{2C5CAC20-1790-4480-9AB5-1D0A8652BAA8}" srcOrd="0" destOrd="0" presId="urn:microsoft.com/office/officeart/2008/layout/HexagonCluster"/>
    <dgm:cxn modelId="{3B7927EF-9903-49B3-A06F-77ED6605A82A}" type="presParOf" srcId="{2C5CAC20-1790-4480-9AB5-1D0A8652BAA8}" destId="{5E279583-E3CF-41B2-AEB5-F18E210D95E9}" srcOrd="0" destOrd="0" presId="urn:microsoft.com/office/officeart/2008/layout/HexagonCluster"/>
    <dgm:cxn modelId="{AF62B9C3-8882-47E4-92B9-E27B23A2598D}" type="presParOf" srcId="{95E80105-348F-406B-9EC7-AAAE312BF550}" destId="{95FF2F02-17C8-4464-B79C-809B77692BCA}" srcOrd="1" destOrd="0" presId="urn:microsoft.com/office/officeart/2008/layout/HexagonCluster"/>
    <dgm:cxn modelId="{EFB2027E-CD77-4CCA-82F7-5F38E998CE09}" type="presParOf" srcId="{95FF2F02-17C8-4464-B79C-809B77692BCA}" destId="{3DEDB310-8E0A-4926-81FA-0AA54C347F80}" srcOrd="0" destOrd="0" presId="urn:microsoft.com/office/officeart/2008/layout/HexagonCluster"/>
    <dgm:cxn modelId="{686662C3-AA28-4E8B-B7D4-A39F6DAAFFC5}" type="presParOf" srcId="{95E80105-348F-406B-9EC7-AAAE312BF550}" destId="{6D4C2D0A-03B6-4E97-BCD8-32EF71F89737}" srcOrd="2" destOrd="0" presId="urn:microsoft.com/office/officeart/2008/layout/HexagonCluster"/>
    <dgm:cxn modelId="{AFA22CA7-692B-4438-A163-A6BF99402A6F}" type="presParOf" srcId="{6D4C2D0A-03B6-4E97-BCD8-32EF71F89737}" destId="{63D7244B-DBFF-4842-B0AB-465244E5A2AA}" srcOrd="0" destOrd="0" presId="urn:microsoft.com/office/officeart/2008/layout/HexagonCluster"/>
    <dgm:cxn modelId="{A179CC26-8607-46C4-B9AB-7D3EC615D038}" type="presParOf" srcId="{95E80105-348F-406B-9EC7-AAAE312BF550}" destId="{A3DD092F-27F2-4D22-8B55-7C40566F170A}" srcOrd="3" destOrd="0" presId="urn:microsoft.com/office/officeart/2008/layout/HexagonCluster"/>
    <dgm:cxn modelId="{88E04000-3CAC-40DC-A72F-7841A3EAA710}" type="presParOf" srcId="{A3DD092F-27F2-4D22-8B55-7C40566F170A}" destId="{07985F61-5C53-48B3-8965-8B018ABD3976}" srcOrd="0" destOrd="0" presId="urn:microsoft.com/office/officeart/2008/layout/HexagonCluster"/>
    <dgm:cxn modelId="{A1FAA045-D1C2-42E3-A4A2-03DE6ABD52D8}" type="presParOf" srcId="{95E80105-348F-406B-9EC7-AAAE312BF550}" destId="{F1A9C3FE-F33E-4586-9AF2-61322A7A33A4}" srcOrd="4" destOrd="0" presId="urn:microsoft.com/office/officeart/2008/layout/HexagonCluster"/>
    <dgm:cxn modelId="{3C4B6F52-57D5-4A73-BDDE-463CA92B1F11}" type="presParOf" srcId="{F1A9C3FE-F33E-4586-9AF2-61322A7A33A4}" destId="{18702B84-BFD2-43A4-BD28-35EDF920424E}" srcOrd="0" destOrd="0" presId="urn:microsoft.com/office/officeart/2008/layout/HexagonCluster"/>
    <dgm:cxn modelId="{446F2880-1C22-42FB-920C-A6B41614851A}" type="presParOf" srcId="{95E80105-348F-406B-9EC7-AAAE312BF550}" destId="{CCDD7AF4-7DB6-4510-9D7C-3FE1CD3243D9}" srcOrd="5" destOrd="0" presId="urn:microsoft.com/office/officeart/2008/layout/HexagonCluster"/>
    <dgm:cxn modelId="{35D16BB9-3EA8-40BF-83C6-DE1C0C0C9995}" type="presParOf" srcId="{CCDD7AF4-7DB6-4510-9D7C-3FE1CD3243D9}" destId="{560DCC22-CC73-4732-BA01-67F2DFD84D89}" srcOrd="0" destOrd="0" presId="urn:microsoft.com/office/officeart/2008/layout/HexagonCluster"/>
    <dgm:cxn modelId="{19832CE4-1D3E-430C-B1B6-85CE2314FE71}" type="presParOf" srcId="{95E80105-348F-406B-9EC7-AAAE312BF550}" destId="{FBD2D645-76C3-4E23-AE76-22EC8F1548FD}" srcOrd="6" destOrd="0" presId="urn:microsoft.com/office/officeart/2008/layout/HexagonCluster"/>
    <dgm:cxn modelId="{C2E78FF5-D467-4ED5-B1B5-F4AA7456C1DC}" type="presParOf" srcId="{FBD2D645-76C3-4E23-AE76-22EC8F1548FD}" destId="{7F9D4DCA-209F-4487-8EA2-242A08B7EE8B}" srcOrd="0" destOrd="0" presId="urn:microsoft.com/office/officeart/2008/layout/HexagonCluster"/>
    <dgm:cxn modelId="{8E1B86AB-F74D-4441-81B1-C4A15C52B5B4}" type="presParOf" srcId="{95E80105-348F-406B-9EC7-AAAE312BF550}" destId="{CC7C90BA-531B-4E13-989C-7A7E87CDE84F}" srcOrd="7" destOrd="0" presId="urn:microsoft.com/office/officeart/2008/layout/HexagonCluster"/>
    <dgm:cxn modelId="{4A0DB11D-B00E-483F-8E84-CD8B9743C99C}" type="presParOf" srcId="{CC7C90BA-531B-4E13-989C-7A7E87CDE84F}" destId="{3982B3B1-B543-4BCA-B53A-C10F606DF0D5}" srcOrd="0" destOrd="0" presId="urn:microsoft.com/office/officeart/2008/layout/HexagonCluster"/>
    <dgm:cxn modelId="{CA2D69BF-0D25-474C-A6E0-6122F1AA232B}" type="presParOf" srcId="{95E80105-348F-406B-9EC7-AAAE312BF550}" destId="{B7AFE6DC-FF6F-4547-9FB6-F6D9BCB17553}" srcOrd="8" destOrd="0" presId="urn:microsoft.com/office/officeart/2008/layout/HexagonCluster"/>
    <dgm:cxn modelId="{A57E0065-3B1C-440E-A91A-0076AD42E5C2}" type="presParOf" srcId="{B7AFE6DC-FF6F-4547-9FB6-F6D9BCB17553}" destId="{688AF844-CA4E-4B74-AF7B-176974E3D2AE}" srcOrd="0" destOrd="0" presId="urn:microsoft.com/office/officeart/2008/layout/HexagonCluster"/>
    <dgm:cxn modelId="{515107C9-85E1-45DF-9D92-BBC0A9DD14AF}" type="presParOf" srcId="{95E80105-348F-406B-9EC7-AAAE312BF550}" destId="{B3F49974-DEA2-4795-ACFE-59634DD5D74F}" srcOrd="9" destOrd="0" presId="urn:microsoft.com/office/officeart/2008/layout/HexagonCluster"/>
    <dgm:cxn modelId="{25DA14BE-8A70-4C22-A7A8-541D06156B6B}" type="presParOf" srcId="{B3F49974-DEA2-4795-ACFE-59634DD5D74F}" destId="{C213DE38-4FDB-49D6-846A-F7ED777A77E0}" srcOrd="0" destOrd="0" presId="urn:microsoft.com/office/officeart/2008/layout/HexagonCluster"/>
    <dgm:cxn modelId="{5C89D914-8515-454F-88C9-0FFB8693432B}" type="presParOf" srcId="{95E80105-348F-406B-9EC7-AAAE312BF550}" destId="{97491495-A8F6-4511-82FC-504B9F958C67}" srcOrd="10" destOrd="0" presId="urn:microsoft.com/office/officeart/2008/layout/HexagonCluster"/>
    <dgm:cxn modelId="{D1376412-7F66-4D5E-8BC7-76760C5E8316}" type="presParOf" srcId="{97491495-A8F6-4511-82FC-504B9F958C67}" destId="{E02A3069-CF51-4C64-89D9-F2EE28C28135}" srcOrd="0" destOrd="0" presId="urn:microsoft.com/office/officeart/2008/layout/HexagonCluster"/>
    <dgm:cxn modelId="{C46C4514-909F-4E64-8313-9BA03089012E}" type="presParOf" srcId="{95E80105-348F-406B-9EC7-AAAE312BF550}" destId="{147A2F00-F053-4F6E-9128-3589A81C3462}" srcOrd="11" destOrd="0" presId="urn:microsoft.com/office/officeart/2008/layout/HexagonCluster"/>
    <dgm:cxn modelId="{022CDC75-0BA2-480D-812B-1A2EF0E23129}" type="presParOf" srcId="{147A2F00-F053-4F6E-9128-3589A81C3462}" destId="{C79D246D-E5ED-444A-8730-FE4408AEAEE4}" srcOrd="0" destOrd="0" presId="urn:microsoft.com/office/officeart/2008/layout/Hexagon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79583-E3CF-41B2-AEB5-F18E210D95E9}">
      <dsp:nvSpPr>
        <dsp:cNvPr id="0" name=""/>
        <dsp:cNvSpPr/>
      </dsp:nvSpPr>
      <dsp:spPr>
        <a:xfrm>
          <a:off x="1563782" y="3242365"/>
          <a:ext cx="1829404" cy="1577265"/>
        </a:xfrm>
        <a:prstGeom prst="hexagon">
          <a:avLst>
            <a:gd name="adj" fmla="val 25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Superposition</a:t>
          </a:r>
        </a:p>
      </dsp:txBody>
      <dsp:txXfrm>
        <a:off x="1847671" y="3487127"/>
        <a:ext cx="1261626" cy="1087741"/>
      </dsp:txXfrm>
    </dsp:sp>
    <dsp:sp modelId="{3DEDB310-8E0A-4926-81FA-0AA54C347F80}">
      <dsp:nvSpPr>
        <dsp:cNvPr id="0" name=""/>
        <dsp:cNvSpPr/>
      </dsp:nvSpPr>
      <dsp:spPr>
        <a:xfrm>
          <a:off x="1611308" y="3938695"/>
          <a:ext cx="214190" cy="184604"/>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3D7244B-DBFF-4842-B0AB-465244E5A2AA}">
      <dsp:nvSpPr>
        <dsp:cNvPr id="0" name=""/>
        <dsp:cNvSpPr/>
      </dsp:nvSpPr>
      <dsp:spPr>
        <a:xfrm>
          <a:off x="0" y="2382833"/>
          <a:ext cx="1829404" cy="1577265"/>
        </a:xfrm>
        <a:prstGeom prst="hexagon">
          <a:avLst>
            <a:gd name="adj" fmla="val 25000"/>
            <a:gd name="vf" fmla="val 11547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24000" b="-24000"/>
          </a:stretch>
        </a:blip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7985F61-5C53-48B3-8965-8B018ABD3976}">
      <dsp:nvSpPr>
        <dsp:cNvPr id="0" name=""/>
        <dsp:cNvSpPr/>
      </dsp:nvSpPr>
      <dsp:spPr>
        <a:xfrm>
          <a:off x="1245427" y="3764092"/>
          <a:ext cx="214190" cy="184604"/>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702B84-BFD2-43A4-BD28-35EDF920424E}">
      <dsp:nvSpPr>
        <dsp:cNvPr id="0" name=""/>
        <dsp:cNvSpPr/>
      </dsp:nvSpPr>
      <dsp:spPr>
        <a:xfrm>
          <a:off x="3122357" y="2376431"/>
          <a:ext cx="1829404" cy="1577265"/>
        </a:xfrm>
        <a:prstGeom prst="hexagon">
          <a:avLst>
            <a:gd name="adj" fmla="val 25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1500" kern="1200" dirty="0"/>
            <a:t>Energy states</a:t>
          </a:r>
        </a:p>
      </dsp:txBody>
      <dsp:txXfrm>
        <a:off x="3406246" y="2621193"/>
        <a:ext cx="1261626" cy="1087741"/>
      </dsp:txXfrm>
    </dsp:sp>
    <dsp:sp modelId="{560DCC22-CC73-4732-BA01-67F2DFD84D89}">
      <dsp:nvSpPr>
        <dsp:cNvPr id="0" name=""/>
        <dsp:cNvSpPr/>
      </dsp:nvSpPr>
      <dsp:spPr>
        <a:xfrm>
          <a:off x="4372993" y="3743673"/>
          <a:ext cx="214190" cy="184604"/>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F9D4DCA-209F-4487-8EA2-242A08B7EE8B}">
      <dsp:nvSpPr>
        <dsp:cNvPr id="0" name=""/>
        <dsp:cNvSpPr/>
      </dsp:nvSpPr>
      <dsp:spPr>
        <a:xfrm>
          <a:off x="4680932" y="3242365"/>
          <a:ext cx="1829404" cy="1577265"/>
        </a:xfrm>
        <a:prstGeom prst="hexagon">
          <a:avLst>
            <a:gd name="adj" fmla="val 25000"/>
            <a:gd name="vf" fmla="val 11547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5000" r="-15000"/>
          </a:stretch>
        </a:blip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82B3B1-B543-4BCA-B53A-C10F606DF0D5}">
      <dsp:nvSpPr>
        <dsp:cNvPr id="0" name=""/>
        <dsp:cNvSpPr/>
      </dsp:nvSpPr>
      <dsp:spPr>
        <a:xfrm>
          <a:off x="4728457" y="3938695"/>
          <a:ext cx="214190" cy="184604"/>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88AF844-CA4E-4B74-AF7B-176974E3D2AE}">
      <dsp:nvSpPr>
        <dsp:cNvPr id="0" name=""/>
        <dsp:cNvSpPr/>
      </dsp:nvSpPr>
      <dsp:spPr>
        <a:xfrm>
          <a:off x="1563782" y="1514248"/>
          <a:ext cx="1829404" cy="1577265"/>
        </a:xfrm>
        <a:prstGeom prst="hexagon">
          <a:avLst>
            <a:gd name="adj" fmla="val 25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1500" kern="1200" dirty="0"/>
            <a:t>Quantization</a:t>
          </a:r>
        </a:p>
      </dsp:txBody>
      <dsp:txXfrm>
        <a:off x="1847671" y="1759010"/>
        <a:ext cx="1261626" cy="1087741"/>
      </dsp:txXfrm>
    </dsp:sp>
    <dsp:sp modelId="{C213DE38-4FDB-49D6-846A-F7ED777A77E0}">
      <dsp:nvSpPr>
        <dsp:cNvPr id="0" name=""/>
        <dsp:cNvSpPr/>
      </dsp:nvSpPr>
      <dsp:spPr>
        <a:xfrm>
          <a:off x="2804002" y="1548419"/>
          <a:ext cx="214190" cy="184604"/>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2A3069-CF51-4C64-89D9-F2EE28C28135}">
      <dsp:nvSpPr>
        <dsp:cNvPr id="0" name=""/>
        <dsp:cNvSpPr/>
      </dsp:nvSpPr>
      <dsp:spPr>
        <a:xfrm>
          <a:off x="3150932" y="705556"/>
          <a:ext cx="1829404" cy="1577265"/>
        </a:xfrm>
        <a:prstGeom prst="hexagon">
          <a:avLst>
            <a:gd name="adj" fmla="val 25000"/>
            <a:gd name="vf" fmla="val 115470"/>
          </a:avLst>
        </a:prstGeom>
        <a:blipFill>
          <a:blip xmlns:r="http://schemas.openxmlformats.org/officeDocument/2006/relationships" r:embed="rId3"/>
          <a:srcRect/>
          <a:stretch>
            <a:fillRect t="-26000" b="-26000"/>
          </a:stretch>
        </a:blip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9D246D-E5ED-444A-8730-FE4408AEAEE4}">
      <dsp:nvSpPr>
        <dsp:cNvPr id="0" name=""/>
        <dsp:cNvSpPr/>
      </dsp:nvSpPr>
      <dsp:spPr>
        <a:xfrm>
          <a:off x="3176393" y="1345062"/>
          <a:ext cx="214190" cy="184604"/>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4004050-F076-4F00-BD02-E73A3CCA1DFD}" type="datetimeFigureOut">
              <a:rPr lang="en-US" smtClean="0"/>
              <a:t>11/5/2025</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1939112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004050-F076-4F00-BD02-E73A3CCA1DFD}"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208262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4004050-F076-4F00-BD02-E73A3CCA1DFD}" type="datetimeFigureOut">
              <a:rPr lang="en-US" smtClean="0"/>
              <a:t>11/5/2025</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1497001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04050-F076-4F00-BD02-E73A3CCA1DFD}"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3949291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04050-F076-4F00-BD02-E73A3CCA1DFD}"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1943965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04050-F076-4F00-BD02-E73A3CCA1DFD}"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127973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04050-F076-4F00-BD02-E73A3CCA1DFD}"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2178330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004050-F076-4F00-BD02-E73A3CCA1DFD}"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602274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004050-F076-4F00-BD02-E73A3CCA1DFD}"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7394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004050-F076-4F00-BD02-E73A3CCA1DFD}"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2189966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4004050-F076-4F00-BD02-E73A3CCA1DFD}" type="datetimeFigureOut">
              <a:rPr lang="en-US" smtClean="0"/>
              <a:t>11/5/2025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1958398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4004050-F076-4F00-BD02-E73A3CCA1DFD}" type="datetimeFigureOut">
              <a:rPr lang="en-US" smtClean="0"/>
              <a:t>11/5/2025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2D0E530-5A36-4186-97FB-8F7839F5D733}"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360500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4004050-F076-4F00-BD02-E73A3CCA1DFD}" type="datetimeFigureOut">
              <a:rPr lang="en-US" smtClean="0"/>
              <a:t>11/5/2025</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2036785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4004050-F076-4F00-BD02-E73A3CCA1DFD}"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36045050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4004050-F076-4F00-BD02-E73A3CCA1DFD}"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2800154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004050-F076-4F00-BD02-E73A3CCA1DFD}"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3310310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4004050-F076-4F00-BD02-E73A3CCA1DFD}" type="datetimeFigureOut">
              <a:rPr lang="en-US" smtClean="0"/>
              <a:t>11/5/2025</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2D0E530-5A36-4186-97FB-8F7839F5D733}" type="slidenum">
              <a:rPr lang="en-US" smtClean="0"/>
              <a:t>‹#›</a:t>
            </a:fld>
            <a:endParaRPr lang="en-US"/>
          </a:p>
        </p:txBody>
      </p:sp>
    </p:spTree>
    <p:extLst>
      <p:ext uri="{BB962C8B-B14F-4D97-AF65-F5344CB8AC3E}">
        <p14:creationId xmlns:p14="http://schemas.microsoft.com/office/powerpoint/2010/main" val="109547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4004050-F076-4F00-BD02-E73A3CCA1DFD}" type="datetimeFigureOut">
              <a:rPr lang="en-US" smtClean="0"/>
              <a:t>11/5/2025</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2D0E530-5A36-4186-97FB-8F7839F5D733}" type="slidenum">
              <a:rPr lang="en-US" smtClean="0"/>
              <a:t>‹#›</a:t>
            </a:fld>
            <a:endParaRPr lang="en-US"/>
          </a:p>
        </p:txBody>
      </p:sp>
    </p:spTree>
    <p:extLst>
      <p:ext uri="{BB962C8B-B14F-4D97-AF65-F5344CB8AC3E}">
        <p14:creationId xmlns:p14="http://schemas.microsoft.com/office/powerpoint/2010/main" val="3487699482"/>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2FDF0-C506-4A4E-8E69-C23B99502D38}"/>
              </a:ext>
            </a:extLst>
          </p:cNvPr>
          <p:cNvSpPr>
            <a:spLocks noGrp="1"/>
          </p:cNvSpPr>
          <p:nvPr>
            <p:ph type="title"/>
          </p:nvPr>
        </p:nvSpPr>
        <p:spPr>
          <a:xfrm>
            <a:off x="300038" y="457199"/>
            <a:ext cx="4471987" cy="2271713"/>
          </a:xfrm>
        </p:spPr>
        <p:txBody>
          <a:bodyPr>
            <a:normAutofit fontScale="90000"/>
          </a:bodyPr>
          <a:lstStyle/>
          <a:p>
            <a:pPr algn="ctr"/>
            <a:r>
              <a:rPr lang="en-US" sz="6600" b="1" u="sng" dirty="0">
                <a:effectLst>
                  <a:outerShdw blurRad="63500" sx="102000" sy="102000" algn="ctr" rotWithShape="0">
                    <a:prstClr val="black">
                      <a:alpha val="40000"/>
                    </a:prstClr>
                  </a:outerShdw>
                </a:effectLst>
                <a:latin typeface="quote-cjk-patch"/>
              </a:rPr>
              <a:t>Quantum Phenomena</a:t>
            </a:r>
            <a:endParaRPr lang="en-US" sz="6600" b="1" u="sng" dirty="0">
              <a:effectLst>
                <a:outerShdw blurRad="63500" sx="102000" sy="102000" algn="ctr" rotWithShape="0">
                  <a:prstClr val="black">
                    <a:alpha val="40000"/>
                  </a:prstClr>
                </a:outerShdw>
              </a:effectLst>
            </a:endParaRPr>
          </a:p>
        </p:txBody>
      </p:sp>
      <p:graphicFrame>
        <p:nvGraphicFramePr>
          <p:cNvPr id="6" name="Content Placeholder 5">
            <a:extLst>
              <a:ext uri="{FF2B5EF4-FFF2-40B4-BE49-F238E27FC236}">
                <a16:creationId xmlns:a16="http://schemas.microsoft.com/office/drawing/2014/main" id="{372DB503-C16A-43EC-8E21-71E44015E1F3}"/>
              </a:ext>
            </a:extLst>
          </p:cNvPr>
          <p:cNvGraphicFramePr>
            <a:graphicFrameLocks noGrp="1"/>
          </p:cNvGraphicFramePr>
          <p:nvPr>
            <p:ph idx="1"/>
            <p:extLst>
              <p:ext uri="{D42A27DB-BD31-4B8C-83A1-F6EECF244321}">
                <p14:modId xmlns:p14="http://schemas.microsoft.com/office/powerpoint/2010/main" val="4223580015"/>
              </p:ext>
            </p:extLst>
          </p:nvPr>
        </p:nvGraphicFramePr>
        <p:xfrm>
          <a:off x="4995863" y="746125"/>
          <a:ext cx="6510337" cy="5472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2BFB090F-0566-4573-B548-79C8308C83BE}"/>
              </a:ext>
            </a:extLst>
          </p:cNvPr>
          <p:cNvSpPr>
            <a:spLocks noGrp="1"/>
          </p:cNvSpPr>
          <p:nvPr>
            <p:ph type="body" sz="half" idx="2"/>
          </p:nvPr>
        </p:nvSpPr>
        <p:spPr>
          <a:xfrm>
            <a:off x="839788" y="3128962"/>
            <a:ext cx="3932237" cy="2740025"/>
          </a:xfrm>
        </p:spPr>
        <p:txBody>
          <a:bodyPr>
            <a:normAutofit/>
          </a:bodyPr>
          <a:lstStyle/>
          <a:p>
            <a:r>
              <a:rPr lang="en-US" sz="3600" b="0" i="0" dirty="0">
                <a:effectLst/>
                <a:latin typeface="quote-cjk-patch"/>
              </a:rPr>
              <a:t>Young's Double Slit &amp; Zeeman Effect</a:t>
            </a:r>
            <a:endParaRPr lang="en-US" sz="3600" dirty="0"/>
          </a:p>
        </p:txBody>
      </p:sp>
    </p:spTree>
    <p:extLst>
      <p:ext uri="{BB962C8B-B14F-4D97-AF65-F5344CB8AC3E}">
        <p14:creationId xmlns:p14="http://schemas.microsoft.com/office/powerpoint/2010/main" val="157886868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D1253-6AAF-43B8-83B6-6C836AFBE004}"/>
              </a:ext>
            </a:extLst>
          </p:cNvPr>
          <p:cNvSpPr>
            <a:spLocks noGrp="1"/>
          </p:cNvSpPr>
          <p:nvPr>
            <p:ph type="title"/>
          </p:nvPr>
        </p:nvSpPr>
        <p:spPr/>
        <p:txBody>
          <a:bodyPr/>
          <a:lstStyle/>
          <a:p>
            <a:r>
              <a:rPr lang="en-US" sz="4000" b="0" i="1" u="sng" dirty="0">
                <a:effectLst/>
                <a:latin typeface="quote-cjk-patch"/>
              </a:rPr>
              <a:t>Young's Double Slit Experiment</a:t>
            </a:r>
            <a:endParaRPr lang="en-US" dirty="0"/>
          </a:p>
        </p:txBody>
      </p:sp>
      <p:sp>
        <p:nvSpPr>
          <p:cNvPr id="3" name="Content Placeholder 2">
            <a:extLst>
              <a:ext uri="{FF2B5EF4-FFF2-40B4-BE49-F238E27FC236}">
                <a16:creationId xmlns:a16="http://schemas.microsoft.com/office/drawing/2014/main" id="{C2B1FE13-AF56-4575-AF78-F086A6702EE2}"/>
              </a:ext>
            </a:extLst>
          </p:cNvPr>
          <p:cNvSpPr>
            <a:spLocks noGrp="1"/>
          </p:cNvSpPr>
          <p:nvPr>
            <p:ph idx="1"/>
          </p:nvPr>
        </p:nvSpPr>
        <p:spPr/>
        <p:txBody>
          <a:bodyPr>
            <a:normAutofit fontScale="92500" lnSpcReduction="10000"/>
          </a:bodyPr>
          <a:lstStyle/>
          <a:p>
            <a:pPr marL="0" indent="0">
              <a:buNone/>
            </a:pPr>
            <a:r>
              <a:rPr lang="en-US" b="0" i="0" dirty="0">
                <a:solidFill>
                  <a:srgbClr val="F9FAFB"/>
                </a:solidFill>
                <a:effectLst/>
                <a:latin typeface="Times New Roman" panose="02020603050405020304" pitchFamily="18" charset="0"/>
                <a:cs typeface="Times New Roman" panose="02020603050405020304" pitchFamily="18" charset="0"/>
              </a:rPr>
              <a:t>AIM:    </a:t>
            </a:r>
          </a:p>
          <a:p>
            <a:pPr marL="0" indent="0">
              <a:buNone/>
            </a:pPr>
            <a:r>
              <a:rPr lang="en-US" b="0" i="0" dirty="0">
                <a:effectLst/>
                <a:latin typeface="Times New Roman" panose="02020603050405020304" pitchFamily="18" charset="0"/>
                <a:cs typeface="Times New Roman" panose="02020603050405020304" pitchFamily="18" charset="0"/>
              </a:rPr>
              <a:t>To determine whether light behaves as a wave or a stream of particles</a:t>
            </a:r>
          </a:p>
          <a:p>
            <a:pPr marL="0" indent="0">
              <a:buNone/>
            </a:pPr>
            <a:r>
              <a:rPr lang="en-US" b="0" i="0" dirty="0">
                <a:effectLst/>
                <a:latin typeface="Times New Roman" panose="02020603050405020304" pitchFamily="18" charset="0"/>
                <a:cs typeface="Times New Roman" panose="02020603050405020304" pitchFamily="18" charset="0"/>
              </a:rPr>
              <a:t> by observing the pattern formed when light passes through two narrow slits.</a:t>
            </a:r>
          </a:p>
          <a:p>
            <a:pPr marL="0" indent="0">
              <a:buNone/>
            </a:pPr>
            <a:endParaRPr lang="en-US" b="0" i="0" dirty="0">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PROCEDURE :</a:t>
            </a:r>
          </a:p>
          <a:p>
            <a:pPr marL="0" indent="0" algn="l">
              <a:buNone/>
            </a:pPr>
            <a:r>
              <a:rPr lang="en-US" i="0" dirty="0">
                <a:effectLst/>
                <a:latin typeface="Times New Roman" panose="02020603050405020304" pitchFamily="18" charset="0"/>
                <a:cs typeface="Times New Roman" panose="02020603050405020304" pitchFamily="18" charset="0"/>
              </a:rPr>
              <a:t>A single light source was directed onto a barrier with two small parallel slits.</a:t>
            </a:r>
          </a:p>
          <a:p>
            <a:pPr marL="0" indent="0" algn="l">
              <a:buNone/>
            </a:pPr>
            <a:r>
              <a:rPr lang="en-US" i="0" dirty="0">
                <a:effectLst/>
                <a:latin typeface="Times New Roman" panose="02020603050405020304" pitchFamily="18" charset="0"/>
                <a:cs typeface="Times New Roman" panose="02020603050405020304" pitchFamily="18" charset="0"/>
              </a:rPr>
              <a:t>The particles are allowed to pass through the slits without any which-path</a:t>
            </a:r>
          </a:p>
          <a:p>
            <a:pPr marL="0" indent="0" algn="l">
              <a:buNone/>
            </a:pPr>
            <a:r>
              <a:rPr lang="en-US" i="0" dirty="0">
                <a:effectLst/>
                <a:latin typeface="Times New Roman" panose="02020603050405020304" pitchFamily="18" charset="0"/>
                <a:cs typeface="Times New Roman" panose="02020603050405020304" pitchFamily="18" charset="0"/>
              </a:rPr>
              <a:t> information being collected. The cumulative pattern on the screen is recorded over time.</a:t>
            </a:r>
          </a:p>
          <a:p>
            <a:pPr marL="0" indent="0" algn="l">
              <a:buNone/>
            </a:pPr>
            <a:r>
              <a:rPr lang="en-US" i="0" dirty="0">
                <a:effectLst/>
                <a:latin typeface="Times New Roman" panose="02020603050405020304" pitchFamily="18" charset="0"/>
                <a:cs typeface="Times New Roman" panose="02020603050405020304" pitchFamily="18" charset="0"/>
              </a:rPr>
              <a:t>The experiment is repeated, but now a which-path detector is activated to determine through which slit each individual particle passes.</a:t>
            </a:r>
          </a:p>
          <a:p>
            <a:pPr marL="0" indent="0" algn="l">
              <a:buNone/>
            </a:pPr>
            <a:r>
              <a:rPr lang="en-US" i="0" dirty="0">
                <a:effectLst/>
                <a:latin typeface="Times New Roman" panose="02020603050405020304" pitchFamily="18" charset="0"/>
                <a:cs typeface="Times New Roman" panose="02020603050405020304" pitchFamily="18" charset="0"/>
              </a:rPr>
              <a:t>The resulting pattern on the screen is recorded and compared to the first result.</a:t>
            </a:r>
          </a:p>
          <a:p>
            <a:pPr marL="0" indent="0">
              <a:buNone/>
            </a:pPr>
            <a:endParaRPr lang="en-US" dirty="0"/>
          </a:p>
        </p:txBody>
      </p:sp>
      <p:pic>
        <p:nvPicPr>
          <p:cNvPr id="7" name="Picture 6">
            <a:extLst>
              <a:ext uri="{FF2B5EF4-FFF2-40B4-BE49-F238E27FC236}">
                <a16:creationId xmlns:a16="http://schemas.microsoft.com/office/drawing/2014/main" id="{489C3617-5943-4565-A648-C5DCB6E5F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2164" y="2237422"/>
            <a:ext cx="3559836" cy="2080978"/>
          </a:xfrm>
          <a:prstGeom prst="rect">
            <a:avLst/>
          </a:prstGeom>
        </p:spPr>
      </p:pic>
    </p:spTree>
    <p:extLst>
      <p:ext uri="{BB962C8B-B14F-4D97-AF65-F5344CB8AC3E}">
        <p14:creationId xmlns:p14="http://schemas.microsoft.com/office/powerpoint/2010/main" val="2035426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2" presetClass="emph" presetSubtype="0" fill="hold" nodeType="clickEffect">
                                  <p:stCondLst>
                                    <p:cond delay="0"/>
                                  </p:stCondLst>
                                  <p:childTnLst>
                                    <p:animRot by="120000">
                                      <p:cBhvr>
                                        <p:cTn id="13" dur="100" fill="hold">
                                          <p:stCondLst>
                                            <p:cond delay="0"/>
                                          </p:stCondLst>
                                        </p:cTn>
                                        <p:tgtEl>
                                          <p:spTgt spid="7"/>
                                        </p:tgtEl>
                                        <p:attrNameLst>
                                          <p:attrName>r</p:attrName>
                                        </p:attrNameLst>
                                      </p:cBhvr>
                                    </p:animRot>
                                    <p:animRot by="-240000">
                                      <p:cBhvr>
                                        <p:cTn id="14" dur="200" fill="hold">
                                          <p:stCondLst>
                                            <p:cond delay="200"/>
                                          </p:stCondLst>
                                        </p:cTn>
                                        <p:tgtEl>
                                          <p:spTgt spid="7"/>
                                        </p:tgtEl>
                                        <p:attrNameLst>
                                          <p:attrName>r</p:attrName>
                                        </p:attrNameLst>
                                      </p:cBhvr>
                                    </p:animRot>
                                    <p:animRot by="240000">
                                      <p:cBhvr>
                                        <p:cTn id="15" dur="200" fill="hold">
                                          <p:stCondLst>
                                            <p:cond delay="400"/>
                                          </p:stCondLst>
                                        </p:cTn>
                                        <p:tgtEl>
                                          <p:spTgt spid="7"/>
                                        </p:tgtEl>
                                        <p:attrNameLst>
                                          <p:attrName>r</p:attrName>
                                        </p:attrNameLst>
                                      </p:cBhvr>
                                    </p:animRot>
                                    <p:animRot by="-240000">
                                      <p:cBhvr>
                                        <p:cTn id="16" dur="200" fill="hold">
                                          <p:stCondLst>
                                            <p:cond delay="600"/>
                                          </p:stCondLst>
                                        </p:cTn>
                                        <p:tgtEl>
                                          <p:spTgt spid="7"/>
                                        </p:tgtEl>
                                        <p:attrNameLst>
                                          <p:attrName>r</p:attrName>
                                        </p:attrNameLst>
                                      </p:cBhvr>
                                    </p:animRot>
                                    <p:animRot by="120000">
                                      <p:cBhvr>
                                        <p:cTn id="17"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5F71-47AB-454A-B2C7-9D6FE5968053}"/>
              </a:ext>
            </a:extLst>
          </p:cNvPr>
          <p:cNvSpPr>
            <a:spLocks noGrp="1"/>
          </p:cNvSpPr>
          <p:nvPr>
            <p:ph type="title"/>
          </p:nvPr>
        </p:nvSpPr>
        <p:spPr>
          <a:xfrm>
            <a:off x="0" y="1671638"/>
            <a:ext cx="4657725" cy="800100"/>
          </a:xfrm>
        </p:spPr>
        <p:txBody>
          <a:bodyPr>
            <a:normAutofit fontScale="90000"/>
          </a:bodyPr>
          <a:lstStyle/>
          <a:p>
            <a:r>
              <a:rPr lang="en-US" sz="3100" dirty="0">
                <a:latin typeface="Times New Roman" panose="02020603050405020304" pitchFamily="18" charset="0"/>
                <a:cs typeface="Times New Roman" panose="02020603050405020304" pitchFamily="18" charset="0"/>
              </a:rPr>
              <a:t>observation:</a:t>
            </a:r>
            <a:br>
              <a:rPr lang="en-US" sz="3200" dirty="0">
                <a:latin typeface="Times New Roman" panose="02020603050405020304" pitchFamily="18" charset="0"/>
                <a:cs typeface="Times New Roman" panose="02020603050405020304" pitchFamily="18" charset="0"/>
              </a:rPr>
            </a:br>
            <a:br>
              <a:rPr lang="en-US" b="1" dirty="0">
                <a:solidFill>
                  <a:srgbClr val="F9FAFB"/>
                </a:solidFill>
                <a:effectLst/>
                <a:latin typeface="quote-cjk-patch"/>
              </a:rPr>
            </a:br>
            <a:endParaRPr lang="en-US" dirty="0"/>
          </a:p>
        </p:txBody>
      </p:sp>
      <p:pic>
        <p:nvPicPr>
          <p:cNvPr id="6" name="Content Placeholder 5">
            <a:extLst>
              <a:ext uri="{FF2B5EF4-FFF2-40B4-BE49-F238E27FC236}">
                <a16:creationId xmlns:a16="http://schemas.microsoft.com/office/drawing/2014/main" id="{60DE3607-4670-416A-86A5-AA064FFABC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95863" y="1095058"/>
            <a:ext cx="6510337" cy="4774247"/>
          </a:xfrm>
        </p:spPr>
      </p:pic>
      <p:sp>
        <p:nvSpPr>
          <p:cNvPr id="4" name="Text Placeholder 3">
            <a:extLst>
              <a:ext uri="{FF2B5EF4-FFF2-40B4-BE49-F238E27FC236}">
                <a16:creationId xmlns:a16="http://schemas.microsoft.com/office/drawing/2014/main" id="{4ACCCA42-9745-4992-B57B-7112C426483F}"/>
              </a:ext>
            </a:extLst>
          </p:cNvPr>
          <p:cNvSpPr>
            <a:spLocks noGrp="1"/>
          </p:cNvSpPr>
          <p:nvPr>
            <p:ph type="body" sz="half" idx="2"/>
          </p:nvPr>
        </p:nvSpPr>
        <p:spPr>
          <a:xfrm>
            <a:off x="0" y="1671638"/>
            <a:ext cx="4657725" cy="5186362"/>
          </a:xfrm>
        </p:spPr>
        <p:txBody>
          <a:bodyPr>
            <a:normAutofit/>
          </a:bodyPr>
          <a:lstStyle/>
          <a:p>
            <a:r>
              <a:rPr lang="en-US" sz="1800" i="0" dirty="0">
                <a:solidFill>
                  <a:srgbClr val="F9FAFB"/>
                </a:solidFill>
                <a:effectLst/>
                <a:latin typeface="Times New Roman" panose="02020603050405020304" pitchFamily="18" charset="0"/>
                <a:cs typeface="Times New Roman" panose="02020603050405020304" pitchFamily="18" charset="0"/>
              </a:rPr>
              <a:t>When a beam of particles or light is fired at two slits with no observation at the slits, an interference pattern of bright and dark fringes appears on the screen behind them. This is a wave phenomenon.</a:t>
            </a:r>
          </a:p>
          <a:p>
            <a:br>
              <a:rPr lang="en-US" sz="1800" dirty="0">
                <a:latin typeface="Times New Roman" panose="02020603050405020304" pitchFamily="18" charset="0"/>
                <a:cs typeface="Times New Roman" panose="02020603050405020304" pitchFamily="18" charset="0"/>
              </a:rPr>
            </a:br>
            <a:r>
              <a:rPr lang="en-US" sz="1800" i="0" dirty="0">
                <a:solidFill>
                  <a:srgbClr val="F9FAFB"/>
                </a:solidFill>
                <a:effectLst/>
                <a:latin typeface="Times New Roman" panose="02020603050405020304" pitchFamily="18" charset="0"/>
                <a:cs typeface="Times New Roman" panose="02020603050405020304" pitchFamily="18" charset="0"/>
              </a:rPr>
              <a:t>However, when a detector is placed to observe which slit each particle passes through, the interference pattern vanishes and is replaced by two simple clumps, corresponding to classical particle behavior.</a:t>
            </a:r>
          </a:p>
          <a:p>
            <a:br>
              <a:rPr lang="en-US" sz="1800" dirty="0">
                <a:latin typeface="Times New Roman" panose="02020603050405020304" pitchFamily="18" charset="0"/>
                <a:cs typeface="Times New Roman" panose="02020603050405020304" pitchFamily="18" charset="0"/>
              </a:rPr>
            </a:br>
            <a:r>
              <a:rPr lang="en-US" sz="1800" i="0" dirty="0">
                <a:solidFill>
                  <a:srgbClr val="F9FAFB"/>
                </a:solidFill>
                <a:effectLst/>
                <a:latin typeface="Times New Roman" panose="02020603050405020304" pitchFamily="18" charset="0"/>
                <a:cs typeface="Times New Roman" panose="02020603050405020304" pitchFamily="18" charset="0"/>
              </a:rPr>
              <a:t>The very act of "looking" collapses the system from a wave to a particle.</a:t>
            </a:r>
          </a:p>
          <a:p>
            <a:endParaRPr lang="en-US" sz="1800" dirty="0">
              <a:solidFill>
                <a:srgbClr val="F9FAFB"/>
              </a:solidFill>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9317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D2E228-B3B3-433B-B3B7-283432D8C2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0313" y="2480801"/>
            <a:ext cx="5066816" cy="3057868"/>
          </a:xfrm>
          <a:prstGeom prst="rect">
            <a:avLst/>
          </a:prstGeom>
        </p:spPr>
      </p:pic>
      <p:sp>
        <p:nvSpPr>
          <p:cNvPr id="4" name="TextBox 3">
            <a:extLst>
              <a:ext uri="{FF2B5EF4-FFF2-40B4-BE49-F238E27FC236}">
                <a16:creationId xmlns:a16="http://schemas.microsoft.com/office/drawing/2014/main" id="{90E01D27-13B6-4A04-9B74-CFB9B78C7898}"/>
              </a:ext>
            </a:extLst>
          </p:cNvPr>
          <p:cNvSpPr txBox="1"/>
          <p:nvPr/>
        </p:nvSpPr>
        <p:spPr>
          <a:xfrm>
            <a:off x="0" y="1414463"/>
            <a:ext cx="3921919" cy="412420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DEPENDING FACTORS:</a:t>
            </a:r>
          </a:p>
          <a:p>
            <a:endParaRPr lang="en-US" sz="2000" i="0" dirty="0">
              <a:effectLst/>
              <a:latin typeface="Times New Roman" panose="02020603050405020304" pitchFamily="18" charset="0"/>
              <a:cs typeface="Times New Roman" panose="02020603050405020304" pitchFamily="18" charset="0"/>
            </a:endParaRPr>
          </a:p>
          <a:p>
            <a:br>
              <a:rPr lang="en-US" sz="2000" i="0" dirty="0">
                <a:effectLst/>
                <a:latin typeface="Times New Roman" panose="02020603050405020304" pitchFamily="18" charset="0"/>
                <a:cs typeface="Times New Roman" panose="02020603050405020304" pitchFamily="18" charset="0"/>
              </a:rPr>
            </a:br>
            <a:r>
              <a:rPr lang="en-US" sz="2000" i="0" dirty="0">
                <a:effectLst/>
                <a:latin typeface="Times New Roman" panose="02020603050405020304" pitchFamily="18" charset="0"/>
                <a:cs typeface="Times New Roman" panose="02020603050405020304" pitchFamily="18" charset="0"/>
              </a:rPr>
              <a:t>Wavelength (λ) of the light source.</a:t>
            </a:r>
          </a:p>
          <a:p>
            <a:pPr algn="l"/>
            <a:endParaRPr lang="en-US" sz="2000" i="0" dirty="0">
              <a:effectLst/>
              <a:latin typeface="Times New Roman" panose="02020603050405020304" pitchFamily="18" charset="0"/>
              <a:cs typeface="Times New Roman" panose="02020603050405020304" pitchFamily="18" charset="0"/>
            </a:endParaRPr>
          </a:p>
          <a:p>
            <a:pPr algn="l"/>
            <a:r>
              <a:rPr lang="en-US" sz="2000" i="0" dirty="0">
                <a:effectLst/>
                <a:latin typeface="Times New Roman" panose="02020603050405020304" pitchFamily="18" charset="0"/>
                <a:cs typeface="Times New Roman" panose="02020603050405020304" pitchFamily="18" charset="0"/>
              </a:rPr>
              <a:t>Slit separation (d) </a:t>
            </a:r>
          </a:p>
          <a:p>
            <a:pPr algn="l"/>
            <a:r>
              <a:rPr lang="en-US" sz="2000" i="0" dirty="0">
                <a:effectLst/>
                <a:latin typeface="Times New Roman" panose="02020603050405020304" pitchFamily="18" charset="0"/>
                <a:cs typeface="Times New Roman" panose="02020603050405020304" pitchFamily="18" charset="0"/>
              </a:rPr>
              <a:t>distance between the two slits.</a:t>
            </a:r>
          </a:p>
          <a:p>
            <a:pPr algn="l"/>
            <a:br>
              <a:rPr lang="en-US" sz="2000" i="0" dirty="0">
                <a:effectLst/>
                <a:latin typeface="Times New Roman" panose="02020603050405020304" pitchFamily="18" charset="0"/>
                <a:cs typeface="Times New Roman" panose="02020603050405020304" pitchFamily="18" charset="0"/>
              </a:rPr>
            </a:br>
            <a:r>
              <a:rPr lang="en-US" sz="2000" i="0" dirty="0">
                <a:effectLst/>
                <a:latin typeface="Times New Roman" panose="02020603050405020304" pitchFamily="18" charset="0"/>
                <a:cs typeface="Times New Roman" panose="02020603050405020304" pitchFamily="18" charset="0"/>
              </a:rPr>
              <a:t>Screen distance (D) </a:t>
            </a:r>
          </a:p>
          <a:p>
            <a:pPr algn="l"/>
            <a:r>
              <a:rPr lang="en-US" sz="2000" i="0" dirty="0">
                <a:effectLst/>
                <a:latin typeface="Times New Roman" panose="02020603050405020304" pitchFamily="18" charset="0"/>
                <a:cs typeface="Times New Roman" panose="02020603050405020304" pitchFamily="18" charset="0"/>
              </a:rPr>
              <a:t>distance from slits to the screen.</a:t>
            </a:r>
          </a:p>
          <a:p>
            <a:pPr algn="l"/>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S</a:t>
            </a:r>
            <a:r>
              <a:rPr lang="en-US" sz="2000" i="0" dirty="0">
                <a:effectLst/>
                <a:latin typeface="Times New Roman" panose="02020603050405020304" pitchFamily="18" charset="0"/>
                <a:cs typeface="Times New Roman" panose="02020603050405020304" pitchFamily="18" charset="0"/>
              </a:rPr>
              <a:t>ource</a:t>
            </a:r>
            <a:r>
              <a:rPr lang="en-US" sz="2000" dirty="0">
                <a:latin typeface="Times New Roman" panose="02020603050405020304" pitchFamily="18" charset="0"/>
                <a:cs typeface="Times New Roman" panose="02020603050405020304" pitchFamily="18" charset="0"/>
              </a:rPr>
              <a:t> Light</a:t>
            </a:r>
            <a:endParaRPr lang="en-US" sz="2000" i="0" dirty="0">
              <a:effectLst/>
              <a:latin typeface="Times New Roman" panose="02020603050405020304" pitchFamily="18" charset="0"/>
              <a:cs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7F1FB76B-3D05-44F0-8DC3-412E46274475}"/>
              </a:ext>
            </a:extLst>
          </p:cNvPr>
          <p:cNvSpPr txBox="1"/>
          <p:nvPr/>
        </p:nvSpPr>
        <p:spPr>
          <a:xfrm>
            <a:off x="6829183" y="1414463"/>
            <a:ext cx="392191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MATHEMATICAL MODEL:</a:t>
            </a:r>
          </a:p>
        </p:txBody>
      </p:sp>
    </p:spTree>
    <p:extLst>
      <p:ext uri="{BB962C8B-B14F-4D97-AF65-F5344CB8AC3E}">
        <p14:creationId xmlns:p14="http://schemas.microsoft.com/office/powerpoint/2010/main" val="93395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36572-0DB1-4707-B696-E3A254C6351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26ABC75-2465-4E15-8081-768ABC5ECDB2}"/>
              </a:ext>
            </a:extLst>
          </p:cNvPr>
          <p:cNvSpPr>
            <a:spLocks noGrp="1"/>
          </p:cNvSpPr>
          <p:nvPr>
            <p:ph sz="half" idx="1"/>
          </p:nvPr>
        </p:nvSpPr>
        <p:spPr>
          <a:xfrm>
            <a:off x="100013" y="1571625"/>
            <a:ext cx="5995987" cy="5029200"/>
          </a:xfrm>
        </p:spPr>
        <p:txBody>
          <a:bodyPr>
            <a:normAutofit fontScale="62500" lnSpcReduction="20000"/>
          </a:bodyPr>
          <a:lstStyle/>
          <a:p>
            <a:pPr marL="0" indent="0">
              <a:buNone/>
            </a:pPr>
            <a:r>
              <a:rPr lang="en-US" sz="3200" dirty="0">
                <a:latin typeface="Times New Roman" panose="02020603050405020304" pitchFamily="18" charset="0"/>
                <a:cs typeface="Times New Roman" panose="02020603050405020304" pitchFamily="18" charset="0"/>
              </a:rPr>
              <a:t>At the time, the result was absurd and unbelievable to many scientists because</a:t>
            </a:r>
          </a:p>
          <a:p>
            <a:pPr marL="0" indent="0">
              <a:buNone/>
            </a:pP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Light was widely accepted as a stream of particles.</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The idea that invisible waves could overlap and cancel each other seemed nonsensical to the early 19th-century mind.</a:t>
            </a:r>
          </a:p>
          <a:p>
            <a:pPr marL="0" indent="0">
              <a:buNone/>
            </a:pP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interference fringes defied the logic of Newtonian optics, making Young’s experiment appear almost magical or contradictory.</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Yet, what seemed absurd became one of the foundations of wave optics, later forming the basis for quantum mechanics, where light exhibits both wave and particle duality.</a:t>
            </a:r>
          </a:p>
          <a:p>
            <a:pPr marL="0" indent="0">
              <a:buNone/>
            </a:pPr>
            <a:br>
              <a:rPr lang="en-US" dirty="0"/>
            </a:br>
            <a:endParaRPr lang="en-US" dirty="0"/>
          </a:p>
        </p:txBody>
      </p:sp>
      <p:sp>
        <p:nvSpPr>
          <p:cNvPr id="4" name="Content Placeholder 3">
            <a:extLst>
              <a:ext uri="{FF2B5EF4-FFF2-40B4-BE49-F238E27FC236}">
                <a16:creationId xmlns:a16="http://schemas.microsoft.com/office/drawing/2014/main" id="{3E816888-7BBF-43EB-B421-4722DE5DAA4A}"/>
              </a:ext>
            </a:extLst>
          </p:cNvPr>
          <p:cNvSpPr>
            <a:spLocks noGrp="1"/>
          </p:cNvSpPr>
          <p:nvPr>
            <p:ph sz="half" idx="2"/>
          </p:nvPr>
        </p:nvSpPr>
        <p:spPr>
          <a:xfrm>
            <a:off x="6172199" y="2194559"/>
            <a:ext cx="5586413" cy="4406266"/>
          </a:xfrm>
        </p:spPr>
        <p:txBody>
          <a:bodyPr>
            <a:normAutofit fontScale="62500" lnSpcReduction="20000"/>
          </a:bodyPr>
          <a:lstStyle/>
          <a:p>
            <a:pPr marL="0" indent="0" algn="l">
              <a:buNone/>
            </a:pPr>
            <a:r>
              <a:rPr lang="en-US" sz="3200" b="0" i="0" dirty="0">
                <a:effectLst/>
                <a:latin typeface="Times New Roman" panose="02020603050405020304" pitchFamily="18" charset="0"/>
                <a:cs typeface="Times New Roman" panose="02020603050405020304" pitchFamily="18" charset="0"/>
              </a:rPr>
              <a:t>The experiment demonstrated that light exhibits wave-like behavior, capable of interference and superposition.</a:t>
            </a:r>
          </a:p>
          <a:p>
            <a:pPr marL="0" indent="0" algn="l">
              <a:buNone/>
            </a:pPr>
            <a:endParaRPr lang="en-US" sz="3200" b="0" i="0" dirty="0">
              <a:effectLst/>
              <a:latin typeface="Times New Roman" panose="02020603050405020304" pitchFamily="18" charset="0"/>
              <a:cs typeface="Times New Roman" panose="02020603050405020304" pitchFamily="18" charset="0"/>
            </a:endParaRPr>
          </a:p>
          <a:p>
            <a:pPr marL="0" indent="0" algn="l">
              <a:buNone/>
            </a:pPr>
            <a:r>
              <a:rPr lang="en-US" sz="3200" b="0" i="0" dirty="0">
                <a:effectLst/>
                <a:latin typeface="Times New Roman" panose="02020603050405020304" pitchFamily="18" charset="0"/>
                <a:cs typeface="Times New Roman" panose="02020603050405020304" pitchFamily="18" charset="0"/>
              </a:rPr>
              <a:t>This directly contradicted Newton’s then-dominant particle theory of light, revolutionizing physics by establishing the wave theory of light.</a:t>
            </a:r>
          </a:p>
          <a:p>
            <a:endParaRPr lang="en-US" dirty="0"/>
          </a:p>
        </p:txBody>
      </p:sp>
      <p:pic>
        <p:nvPicPr>
          <p:cNvPr id="6" name="Picture 5">
            <a:extLst>
              <a:ext uri="{FF2B5EF4-FFF2-40B4-BE49-F238E27FC236}">
                <a16:creationId xmlns:a16="http://schemas.microsoft.com/office/drawing/2014/main" id="{E168920F-5B0B-4213-8FEC-D434E623B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199" y="4398177"/>
            <a:ext cx="5715000" cy="1695450"/>
          </a:xfrm>
          <a:prstGeom prst="rect">
            <a:avLst/>
          </a:prstGeom>
        </p:spPr>
      </p:pic>
    </p:spTree>
    <p:extLst>
      <p:ext uri="{BB962C8B-B14F-4D97-AF65-F5344CB8AC3E}">
        <p14:creationId xmlns:p14="http://schemas.microsoft.com/office/powerpoint/2010/main" val="1585866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D1253-6AAF-43B8-83B6-6C836AFBE004}"/>
              </a:ext>
            </a:extLst>
          </p:cNvPr>
          <p:cNvSpPr>
            <a:spLocks noGrp="1"/>
          </p:cNvSpPr>
          <p:nvPr>
            <p:ph type="title"/>
          </p:nvPr>
        </p:nvSpPr>
        <p:spPr>
          <a:xfrm>
            <a:off x="2595563" y="292059"/>
            <a:ext cx="8610600" cy="1293028"/>
          </a:xfrm>
        </p:spPr>
        <p:txBody>
          <a:bodyPr/>
          <a:lstStyle/>
          <a:p>
            <a:r>
              <a:rPr lang="en-US" sz="4000" b="0" i="1" u="sng" dirty="0">
                <a:effectLst/>
                <a:latin typeface="quote-cjk-patch"/>
              </a:rPr>
              <a:t>Zeeman effect</a:t>
            </a:r>
            <a:endParaRPr lang="en-US" dirty="0"/>
          </a:p>
        </p:txBody>
      </p:sp>
      <p:sp>
        <p:nvSpPr>
          <p:cNvPr id="3" name="Content Placeholder 2">
            <a:extLst>
              <a:ext uri="{FF2B5EF4-FFF2-40B4-BE49-F238E27FC236}">
                <a16:creationId xmlns:a16="http://schemas.microsoft.com/office/drawing/2014/main" id="{C2B1FE13-AF56-4575-AF78-F086A6702EE2}"/>
              </a:ext>
            </a:extLst>
          </p:cNvPr>
          <p:cNvSpPr>
            <a:spLocks noGrp="1"/>
          </p:cNvSpPr>
          <p:nvPr>
            <p:ph idx="1"/>
          </p:nvPr>
        </p:nvSpPr>
        <p:spPr>
          <a:xfrm>
            <a:off x="242888" y="1478765"/>
            <a:ext cx="11263313" cy="5193498"/>
          </a:xfrm>
        </p:spPr>
        <p:txBody>
          <a:bodyPr>
            <a:normAutofit fontScale="77500" lnSpcReduction="20000"/>
          </a:bodyPr>
          <a:lstStyle/>
          <a:p>
            <a:pPr marL="0" indent="0">
              <a:buNone/>
            </a:pPr>
            <a:r>
              <a:rPr lang="en-US" sz="2400" i="0" dirty="0">
                <a:solidFill>
                  <a:srgbClr val="F9FAFB"/>
                </a:solidFill>
                <a:effectLst/>
                <a:latin typeface="Times New Roman" panose="02020603050405020304" pitchFamily="18" charset="0"/>
                <a:cs typeface="Times New Roman" panose="02020603050405020304" pitchFamily="18" charset="0"/>
              </a:rPr>
              <a:t>AIM:    </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To study how the presence of a magnetic field affects the </a:t>
            </a:r>
          </a:p>
          <a:p>
            <a:pPr marL="0" indent="0">
              <a:buNone/>
            </a:pPr>
            <a:r>
              <a:rPr lang="en-US" sz="2400" dirty="0">
                <a:latin typeface="Times New Roman" panose="02020603050405020304" pitchFamily="18" charset="0"/>
                <a:cs typeface="Times New Roman" panose="02020603050405020304" pitchFamily="18" charset="0"/>
              </a:rPr>
              <a:t>spectral lines emitted by atoms and to verify the Zeeman Effect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STATEMENT:</a:t>
            </a:r>
          </a:p>
          <a:p>
            <a:pPr marL="0" indent="0">
              <a:buNone/>
            </a:pPr>
            <a:r>
              <a:rPr lang="en-US" sz="2400" dirty="0">
                <a:latin typeface="Times New Roman" panose="02020603050405020304" pitchFamily="18" charset="0"/>
                <a:cs typeface="Times New Roman" panose="02020603050405020304" pitchFamily="18" charset="0"/>
              </a:rPr>
              <a:t>Zeeman Effect  : The splitting of spectral lines due to the interaction </a:t>
            </a:r>
          </a:p>
          <a:p>
            <a:pPr marL="0" indent="0">
              <a:buNone/>
            </a:pPr>
            <a:r>
              <a:rPr lang="en-US" sz="2400" dirty="0">
                <a:latin typeface="Times New Roman" panose="02020603050405020304" pitchFamily="18" charset="0"/>
                <a:cs typeface="Times New Roman" panose="02020603050405020304" pitchFamily="18" charset="0"/>
              </a:rPr>
              <a:t>Between magnetic fields and atomic magnetic moments.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PROCEDURE :</a:t>
            </a:r>
          </a:p>
          <a:p>
            <a:pPr marL="0" indent="0">
              <a:buNone/>
            </a:pPr>
            <a:r>
              <a:rPr lang="en-US" sz="2400" dirty="0">
                <a:latin typeface="Times New Roman" panose="02020603050405020304" pitchFamily="18" charset="0"/>
                <a:cs typeface="Times New Roman" panose="02020603050405020304" pitchFamily="18" charset="0"/>
              </a:rPr>
              <a:t>The discharge lamp was placed between the poles of a strong electromagnet, with the gap adjusted so that the emitted light passed directly through the magnetic field.</a:t>
            </a:r>
          </a:p>
          <a:p>
            <a:pPr marL="0" indent="0">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light from the lamp was directed into the spectrograph to obtain its emission spectrum.</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With the magnetic field switched off, the normal spectral lines were first recorded as a reference.</a:t>
            </a:r>
          </a:p>
          <a:p>
            <a:pPr marL="0" indent="0">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magnetic field was then gradually increased using the power supply, and changes in the spectral lines were closely observed through the spectroscope.</a:t>
            </a:r>
            <a:br>
              <a:rPr lang="en-US" dirty="0">
                <a:latin typeface="Times New Roman" panose="02020603050405020304" pitchFamily="18" charset="0"/>
                <a:cs typeface="Times New Roman" panose="02020603050405020304" pitchFamily="18" charset="0"/>
              </a:rPr>
            </a:br>
            <a:endParaRPr lang="en-US" dirty="0"/>
          </a:p>
        </p:txBody>
      </p:sp>
      <p:pic>
        <p:nvPicPr>
          <p:cNvPr id="8" name="Picture 7">
            <a:extLst>
              <a:ext uri="{FF2B5EF4-FFF2-40B4-BE49-F238E27FC236}">
                <a16:creationId xmlns:a16="http://schemas.microsoft.com/office/drawing/2014/main" id="{93D1208E-3EBE-43A2-8947-D49530721991}"/>
              </a:ext>
            </a:extLst>
          </p:cNvPr>
          <p:cNvPicPr>
            <a:picLocks noChangeAspect="1"/>
          </p:cNvPicPr>
          <p:nvPr/>
        </p:nvPicPr>
        <p:blipFill>
          <a:blip r:embed="rId2"/>
          <a:stretch>
            <a:fillRect/>
          </a:stretch>
        </p:blipFill>
        <p:spPr>
          <a:xfrm>
            <a:off x="7200900" y="1691408"/>
            <a:ext cx="4105465" cy="2160770"/>
          </a:xfrm>
          <a:prstGeom prst="rect">
            <a:avLst/>
          </a:prstGeom>
        </p:spPr>
      </p:pic>
    </p:spTree>
    <p:extLst>
      <p:ext uri="{BB962C8B-B14F-4D97-AF65-F5344CB8AC3E}">
        <p14:creationId xmlns:p14="http://schemas.microsoft.com/office/powerpoint/2010/main" val="35985537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1000"/>
                                        <p:tgtEl>
                                          <p:spTgt spid="3">
                                            <p:txEl>
                                              <p:pRg st="8" end="8"/>
                                            </p:txEl>
                                          </p:spTgt>
                                        </p:tgtEl>
                                      </p:cBhvr>
                                    </p:animEffect>
                                    <p:anim calcmode="lin" valueType="num">
                                      <p:cBhvr>
                                        <p:cTn id="5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1000"/>
                                        <p:tgtEl>
                                          <p:spTgt spid="3">
                                            <p:txEl>
                                              <p:pRg st="9" end="9"/>
                                            </p:txEl>
                                          </p:spTgt>
                                        </p:tgtEl>
                                      </p:cBhvr>
                                    </p:animEffect>
                                    <p:anim calcmode="lin" valueType="num">
                                      <p:cBhvr>
                                        <p:cTn id="6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3">
                                            <p:txEl>
                                              <p:pRg st="10" end="10"/>
                                            </p:txEl>
                                          </p:spTgt>
                                        </p:tgtEl>
                                        <p:attrNameLst>
                                          <p:attrName>style.visibility</p:attrName>
                                        </p:attrNameLst>
                                      </p:cBhvr>
                                      <p:to>
                                        <p:strVal val="visible"/>
                                      </p:to>
                                    </p:set>
                                    <p:animEffect transition="in" filter="fade">
                                      <p:cBhvr>
                                        <p:cTn id="68" dur="1000"/>
                                        <p:tgtEl>
                                          <p:spTgt spid="3">
                                            <p:txEl>
                                              <p:pRg st="10" end="10"/>
                                            </p:txEl>
                                          </p:spTgt>
                                        </p:tgtEl>
                                      </p:cBhvr>
                                    </p:animEffect>
                                    <p:anim calcmode="lin" valueType="num">
                                      <p:cBhvr>
                                        <p:cTn id="6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3">
                                            <p:txEl>
                                              <p:pRg st="11" end="11"/>
                                            </p:txEl>
                                          </p:spTgt>
                                        </p:tgtEl>
                                        <p:attrNameLst>
                                          <p:attrName>style.visibility</p:attrName>
                                        </p:attrNameLst>
                                      </p:cBhvr>
                                      <p:to>
                                        <p:strVal val="visible"/>
                                      </p:to>
                                    </p:set>
                                    <p:animEffect transition="in" filter="fade">
                                      <p:cBhvr>
                                        <p:cTn id="75" dur="1000"/>
                                        <p:tgtEl>
                                          <p:spTgt spid="3">
                                            <p:txEl>
                                              <p:pRg st="11" end="11"/>
                                            </p:txEl>
                                          </p:spTgt>
                                        </p:tgtEl>
                                      </p:cBhvr>
                                    </p:animEffect>
                                    <p:anim calcmode="lin" valueType="num">
                                      <p:cBhvr>
                                        <p:cTn id="76"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5F71-47AB-454A-B2C7-9D6FE5968053}"/>
              </a:ext>
            </a:extLst>
          </p:cNvPr>
          <p:cNvSpPr>
            <a:spLocks noGrp="1"/>
          </p:cNvSpPr>
          <p:nvPr>
            <p:ph type="title"/>
          </p:nvPr>
        </p:nvSpPr>
        <p:spPr>
          <a:xfrm>
            <a:off x="0" y="1671638"/>
            <a:ext cx="4657725" cy="800100"/>
          </a:xfrm>
        </p:spPr>
        <p:txBody>
          <a:bodyPr>
            <a:normAutofit fontScale="90000"/>
          </a:bodyPr>
          <a:lstStyle/>
          <a:p>
            <a:r>
              <a:rPr lang="en-US" sz="3100" dirty="0">
                <a:latin typeface="Times New Roman" panose="02020603050405020304" pitchFamily="18" charset="0"/>
                <a:cs typeface="Times New Roman" panose="02020603050405020304" pitchFamily="18" charset="0"/>
              </a:rPr>
              <a:t>observation:</a:t>
            </a:r>
            <a:br>
              <a:rPr lang="en-US" sz="3200" dirty="0">
                <a:latin typeface="Times New Roman" panose="02020603050405020304" pitchFamily="18" charset="0"/>
                <a:cs typeface="Times New Roman" panose="02020603050405020304" pitchFamily="18" charset="0"/>
              </a:rPr>
            </a:br>
            <a:br>
              <a:rPr lang="en-US" b="1" dirty="0">
                <a:solidFill>
                  <a:srgbClr val="F9FAFB"/>
                </a:solidFill>
                <a:effectLst/>
                <a:latin typeface="quote-cjk-patch"/>
              </a:rPr>
            </a:br>
            <a:endParaRPr lang="en-US" dirty="0"/>
          </a:p>
        </p:txBody>
      </p:sp>
      <p:sp>
        <p:nvSpPr>
          <p:cNvPr id="4" name="Text Placeholder 3">
            <a:extLst>
              <a:ext uri="{FF2B5EF4-FFF2-40B4-BE49-F238E27FC236}">
                <a16:creationId xmlns:a16="http://schemas.microsoft.com/office/drawing/2014/main" id="{4ACCCA42-9745-4992-B57B-7112C426483F}"/>
              </a:ext>
            </a:extLst>
          </p:cNvPr>
          <p:cNvSpPr>
            <a:spLocks noGrp="1"/>
          </p:cNvSpPr>
          <p:nvPr>
            <p:ph type="body" sz="half" idx="2"/>
          </p:nvPr>
        </p:nvSpPr>
        <p:spPr>
          <a:xfrm>
            <a:off x="0" y="1671638"/>
            <a:ext cx="6486525" cy="5186362"/>
          </a:xfrm>
        </p:spPr>
        <p:txBody>
          <a:bodyPr>
            <a:normAutofit lnSpcReduction="10000"/>
          </a:bodyPr>
          <a:lstStyle/>
          <a:p>
            <a:r>
              <a:rPr lang="en-US" sz="2000" dirty="0">
                <a:latin typeface="Times New Roman" panose="02020603050405020304" pitchFamily="18" charset="0"/>
                <a:cs typeface="Times New Roman" panose="02020603050405020304" pitchFamily="18" charset="0"/>
              </a:rPr>
              <a:t>With no magnetic field, the spectrum consisted of sharp, single lines.</a:t>
            </a:r>
          </a:p>
          <a:p>
            <a:r>
              <a:rPr lang="en-US" sz="2000" dirty="0">
                <a:latin typeface="Times New Roman" panose="02020603050405020304" pitchFamily="18" charset="0"/>
                <a:cs typeface="Times New Roman" panose="02020603050405020304" pitchFamily="18" charset="0"/>
              </a:rPr>
              <a:t>When the magnetic field was applied, these lines split symmetrically into multiple components.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simple atomic transitions (like in cadmium), the line split into three distinct lines  one central unshifted line and two equally spaced side lines. This is called the Normal Zeeman Effect.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most other elements (like sodium), the splitting pattern was more complex, producing several unevenly spaced lines. This is called the Anomalous Zeeman Effect.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distance between the split components increased linearly as the magnetic field strength was increased.</a:t>
            </a:r>
          </a:p>
          <a:p>
            <a:endParaRPr lang="en-US" sz="1800" dirty="0">
              <a:solidFill>
                <a:srgbClr val="F9FAFB"/>
              </a:solidFill>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EBA0870C-EAA8-4F7F-A13F-6D78464B00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31082" y="1400175"/>
            <a:ext cx="5265643" cy="3024187"/>
          </a:xfrm>
        </p:spPr>
      </p:pic>
    </p:spTree>
    <p:extLst>
      <p:ext uri="{BB962C8B-B14F-4D97-AF65-F5344CB8AC3E}">
        <p14:creationId xmlns:p14="http://schemas.microsoft.com/office/powerpoint/2010/main" val="1948317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E01D27-13B6-4A04-9B74-CFB9B78C7898}"/>
              </a:ext>
            </a:extLst>
          </p:cNvPr>
          <p:cNvSpPr txBox="1"/>
          <p:nvPr/>
        </p:nvSpPr>
        <p:spPr>
          <a:xfrm>
            <a:off x="0" y="1414463"/>
            <a:ext cx="5529263" cy="443198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DEPENDING FACTORS:</a:t>
            </a:r>
          </a:p>
          <a:p>
            <a:endParaRPr lang="en-US" sz="2000" i="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Magnetic field strength (B) – stronger fields gave larger splitting.</a:t>
            </a:r>
          </a:p>
          <a:p>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Element used – each element showed a different pattern depending on its electronic structure.</a:t>
            </a:r>
          </a:p>
          <a:p>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Quantum state of the electron transition involved.</a:t>
            </a:r>
          </a:p>
          <a:p>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Orientation of atomic magnetic moments with respect to the field direction.</a:t>
            </a:r>
          </a:p>
          <a:p>
            <a:endParaRPr lang="en-US" dirty="0"/>
          </a:p>
        </p:txBody>
      </p:sp>
      <p:sp>
        <p:nvSpPr>
          <p:cNvPr id="5" name="TextBox 4">
            <a:extLst>
              <a:ext uri="{FF2B5EF4-FFF2-40B4-BE49-F238E27FC236}">
                <a16:creationId xmlns:a16="http://schemas.microsoft.com/office/drawing/2014/main" id="{7F1FB76B-3D05-44F0-8DC3-412E46274475}"/>
              </a:ext>
            </a:extLst>
          </p:cNvPr>
          <p:cNvSpPr txBox="1"/>
          <p:nvPr/>
        </p:nvSpPr>
        <p:spPr>
          <a:xfrm>
            <a:off x="7686433" y="714375"/>
            <a:ext cx="392191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MATHEMATICAL MODEL:</a:t>
            </a:r>
          </a:p>
        </p:txBody>
      </p:sp>
      <p:pic>
        <p:nvPicPr>
          <p:cNvPr id="9" name="Picture 8">
            <a:extLst>
              <a:ext uri="{FF2B5EF4-FFF2-40B4-BE49-F238E27FC236}">
                <a16:creationId xmlns:a16="http://schemas.microsoft.com/office/drawing/2014/main" id="{19A68DF1-BA8E-4986-90EC-CCE1EA5DC584}"/>
              </a:ext>
            </a:extLst>
          </p:cNvPr>
          <p:cNvPicPr>
            <a:picLocks noChangeAspect="1"/>
          </p:cNvPicPr>
          <p:nvPr/>
        </p:nvPicPr>
        <p:blipFill>
          <a:blip r:embed="rId2"/>
          <a:stretch>
            <a:fillRect/>
          </a:stretch>
        </p:blipFill>
        <p:spPr>
          <a:xfrm>
            <a:off x="5953599" y="1631608"/>
            <a:ext cx="6096851" cy="850466"/>
          </a:xfrm>
          <a:prstGeom prst="rect">
            <a:avLst/>
          </a:prstGeom>
        </p:spPr>
      </p:pic>
      <p:pic>
        <p:nvPicPr>
          <p:cNvPr id="11" name="Picture 10">
            <a:extLst>
              <a:ext uri="{FF2B5EF4-FFF2-40B4-BE49-F238E27FC236}">
                <a16:creationId xmlns:a16="http://schemas.microsoft.com/office/drawing/2014/main" id="{DD9AEF79-1B67-406F-9F7D-7CBE43186822}"/>
              </a:ext>
            </a:extLst>
          </p:cNvPr>
          <p:cNvPicPr>
            <a:picLocks noChangeAspect="1"/>
          </p:cNvPicPr>
          <p:nvPr/>
        </p:nvPicPr>
        <p:blipFill>
          <a:blip r:embed="rId3"/>
          <a:stretch>
            <a:fillRect/>
          </a:stretch>
        </p:blipFill>
        <p:spPr>
          <a:xfrm>
            <a:off x="5953599" y="2456365"/>
            <a:ext cx="6096851" cy="3953427"/>
          </a:xfrm>
          <a:prstGeom prst="rect">
            <a:avLst/>
          </a:prstGeom>
        </p:spPr>
      </p:pic>
    </p:spTree>
    <p:extLst>
      <p:ext uri="{BB962C8B-B14F-4D97-AF65-F5344CB8AC3E}">
        <p14:creationId xmlns:p14="http://schemas.microsoft.com/office/powerpoint/2010/main" val="3933505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47A2-9CCE-43C0-A591-9AB0C895E033}"/>
              </a:ext>
            </a:extLst>
          </p:cNvPr>
          <p:cNvSpPr>
            <a:spLocks noGrp="1"/>
          </p:cNvSpPr>
          <p:nvPr>
            <p:ph type="title"/>
          </p:nvPr>
        </p:nvSpPr>
        <p:spPr>
          <a:xfrm>
            <a:off x="685800" y="692844"/>
            <a:ext cx="4114800" cy="1600200"/>
          </a:xfrm>
        </p:spPr>
        <p:txBody>
          <a:bodyPr/>
          <a:lstStyle/>
          <a:p>
            <a:r>
              <a:rPr lang="en-US" dirty="0"/>
              <a:t>Conclusion:</a:t>
            </a:r>
          </a:p>
        </p:txBody>
      </p:sp>
      <p:sp>
        <p:nvSpPr>
          <p:cNvPr id="7" name="Rectangle 3">
            <a:extLst>
              <a:ext uri="{FF2B5EF4-FFF2-40B4-BE49-F238E27FC236}">
                <a16:creationId xmlns:a16="http://schemas.microsoft.com/office/drawing/2014/main" id="{860D417B-6CCE-4D2E-8E72-3171ECE236AD}"/>
              </a:ext>
            </a:extLst>
          </p:cNvPr>
          <p:cNvSpPr>
            <a:spLocks noGrp="1" noChangeArrowheads="1"/>
          </p:cNvSpPr>
          <p:nvPr>
            <p:ph idx="1"/>
          </p:nvPr>
        </p:nvSpPr>
        <p:spPr bwMode="auto">
          <a:xfrm>
            <a:off x="5038444" y="1884155"/>
            <a:ext cx="689161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Spectral lines split in the presence of a magnetic field, proving</a:t>
            </a:r>
          </a:p>
          <a:p>
            <a:pPr marL="0" indent="0" eaLnBrk="0" fontAlgn="base" hangingPunct="0">
              <a:lnSpc>
                <a:spcPct val="100000"/>
              </a:lnSpc>
              <a:spcBef>
                <a:spcPct val="0"/>
              </a:spcBef>
              <a:spcAft>
                <a:spcPct val="0"/>
              </a:spcAft>
              <a:buNone/>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Zeeman Effect.</a:t>
            </a:r>
          </a:p>
          <a:p>
            <a:pPr marL="0" indent="0" eaLnBrk="0" fontAlgn="base" hangingPunct="0">
              <a:lnSpc>
                <a:spcPct val="100000"/>
              </a:lnSpc>
              <a:spcBef>
                <a:spcPct val="0"/>
              </a:spcBef>
              <a:spcAft>
                <a:spcPct val="0"/>
              </a:spcAft>
              <a:buNone/>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magnitude of splitting increases proportionally with</a:t>
            </a:r>
          </a:p>
          <a:p>
            <a:pPr marL="0" indent="0" eaLnBrk="0" fontAlgn="base" hangingPunct="0">
              <a:lnSpc>
                <a:spcPct val="100000"/>
              </a:lnSpc>
              <a:spcBef>
                <a:spcPct val="0"/>
              </a:spcBef>
              <a:spcAft>
                <a:spcPct val="0"/>
              </a:spcAft>
              <a:buNone/>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field strength.</a:t>
            </a:r>
          </a:p>
          <a:p>
            <a:pPr marL="0" indent="0" eaLnBrk="0" fontAlgn="base" hangingPunct="0">
              <a:lnSpc>
                <a:spcPct val="100000"/>
              </a:lnSpc>
              <a:spcBef>
                <a:spcPct val="0"/>
              </a:spcBef>
              <a:spcAft>
                <a:spcPct val="0"/>
              </a:spcAft>
              <a:buNone/>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triplet splitting corresponds to the</a:t>
            </a:r>
          </a:p>
          <a:p>
            <a:pPr marL="0" indent="0" eaLnBrk="0" fontAlgn="base" hangingPunct="0">
              <a:lnSpc>
                <a:spcPct val="100000"/>
              </a:lnSpc>
              <a:spcBef>
                <a:spcPct val="0"/>
              </a:spcBef>
              <a:spcAft>
                <a:spcPct val="0"/>
              </a:spcAft>
              <a:buNone/>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 Zeeman Effect (no spin involvement).</a:t>
            </a:r>
          </a:p>
          <a:p>
            <a:pPr marL="0" indent="0" eaLnBrk="0" fontAlgn="base" hangingPunct="0">
              <a:lnSpc>
                <a:spcPct val="100000"/>
              </a:lnSpc>
              <a:spcBef>
                <a:spcPct val="0"/>
              </a:spcBef>
              <a:spcAft>
                <a:spcPct val="0"/>
              </a:spcAft>
              <a:buNone/>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complex splitting patterns are explained only by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introducing electron spin and quantum angular momentum coupling evidence of the Anomalous Zeeman Effect.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results verify space quantization and the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validity of quantum numbers and selection rules.</a:t>
            </a:r>
          </a:p>
        </p:txBody>
      </p:sp>
      <p:pic>
        <p:nvPicPr>
          <p:cNvPr id="9" name="Picture 8">
            <a:extLst>
              <a:ext uri="{FF2B5EF4-FFF2-40B4-BE49-F238E27FC236}">
                <a16:creationId xmlns:a16="http://schemas.microsoft.com/office/drawing/2014/main" id="{7FEB22BD-59B9-4AE2-B5B1-CB2CB6C21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937" y="2964757"/>
            <a:ext cx="4477421" cy="2507356"/>
          </a:xfrm>
          <a:prstGeom prst="rect">
            <a:avLst/>
          </a:prstGeom>
        </p:spPr>
      </p:pic>
    </p:spTree>
    <p:extLst>
      <p:ext uri="{BB962C8B-B14F-4D97-AF65-F5344CB8AC3E}">
        <p14:creationId xmlns:p14="http://schemas.microsoft.com/office/powerpoint/2010/main" val="1349070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 calcmode="lin" valueType="num">
                                      <p:cBhvr additive="base">
                                        <p:cTn id="2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 calcmode="lin" valueType="num">
                                      <p:cBhvr additive="base">
                                        <p:cTn id="3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 calcmode="lin" valueType="num">
                                      <p:cBhvr additive="base">
                                        <p:cTn id="3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 calcmode="lin" valueType="num">
                                      <p:cBhvr additive="base">
                                        <p:cTn id="4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xEl>
                                              <p:pRg st="10" end="10"/>
                                            </p:txEl>
                                          </p:spTgt>
                                        </p:tgtEl>
                                        <p:attrNameLst>
                                          <p:attrName>style.visibility</p:attrName>
                                        </p:attrNameLst>
                                      </p:cBhvr>
                                      <p:to>
                                        <p:strVal val="visible"/>
                                      </p:to>
                                    </p:set>
                                    <p:anim calcmode="lin" valueType="num">
                                      <p:cBhvr additive="base">
                                        <p:cTn id="4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anim calcmode="lin" valueType="num">
                                      <p:cBhvr additive="base">
                                        <p:cTn id="55"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7">
                                            <p:txEl>
                                              <p:pRg st="13" end="13"/>
                                            </p:txEl>
                                          </p:spTgt>
                                        </p:tgtEl>
                                        <p:attrNameLst>
                                          <p:attrName>style.visibility</p:attrName>
                                        </p:attrNameLst>
                                      </p:cBhvr>
                                      <p:to>
                                        <p:strVal val="visible"/>
                                      </p:to>
                                    </p:set>
                                    <p:anim calcmode="lin" valueType="num">
                                      <p:cBhvr additive="base">
                                        <p:cTn id="61"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down)">
                                      <p:cBhvr>
                                        <p:cTn id="6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821FED-CD61-43CD-8C84-35D5037843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750" y="1047750"/>
            <a:ext cx="4762500" cy="4762500"/>
          </a:xfrm>
          <a:prstGeom prst="rect">
            <a:avLst/>
          </a:prstGeom>
        </p:spPr>
      </p:pic>
      <p:sp>
        <p:nvSpPr>
          <p:cNvPr id="5" name="TextBox 4">
            <a:extLst>
              <a:ext uri="{FF2B5EF4-FFF2-40B4-BE49-F238E27FC236}">
                <a16:creationId xmlns:a16="http://schemas.microsoft.com/office/drawing/2014/main" id="{B0687446-6FD5-4878-BE4A-6145A1AA9E14}"/>
              </a:ext>
            </a:extLst>
          </p:cNvPr>
          <p:cNvSpPr txBox="1"/>
          <p:nvPr/>
        </p:nvSpPr>
        <p:spPr>
          <a:xfrm>
            <a:off x="9015413" y="5810250"/>
            <a:ext cx="3071812"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V.Vimochini</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E0125103  AIML Batch-2</a:t>
            </a:r>
          </a:p>
        </p:txBody>
      </p:sp>
    </p:spTree>
    <p:extLst>
      <p:ext uri="{BB962C8B-B14F-4D97-AF65-F5344CB8AC3E}">
        <p14:creationId xmlns:p14="http://schemas.microsoft.com/office/powerpoint/2010/main" val="40593707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136</TotalTime>
  <Words>797</Words>
  <Application>Microsoft Office PowerPoint</Application>
  <PresentationFormat>Widescreen</PresentationFormat>
  <Paragraphs>91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quote-cjk-patch</vt:lpstr>
      <vt:lpstr>Times New Roman</vt:lpstr>
      <vt:lpstr>Vapor Trail</vt:lpstr>
      <vt:lpstr>Quantum Phenomena</vt:lpstr>
      <vt:lpstr>Young's Double Slit Experiment</vt:lpstr>
      <vt:lpstr>observation:  </vt:lpstr>
      <vt:lpstr>PowerPoint Presentation</vt:lpstr>
      <vt:lpstr>Conclusion</vt:lpstr>
      <vt:lpstr>Zeeman effect</vt:lpstr>
      <vt:lpstr>observation:  </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Phenomena</dc:title>
  <dc:creator>v</dc:creator>
  <cp:lastModifiedBy>v</cp:lastModifiedBy>
  <cp:revision>25</cp:revision>
  <dcterms:created xsi:type="dcterms:W3CDTF">2025-11-04T05:57:20Z</dcterms:created>
  <dcterms:modified xsi:type="dcterms:W3CDTF">2025-11-05T13:36:39Z</dcterms:modified>
</cp:coreProperties>
</file>